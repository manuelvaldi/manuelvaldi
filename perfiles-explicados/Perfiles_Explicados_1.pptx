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5"/>
    <p:sldMasterId id="2147483662" r:id="rId6"/>
    <p:sldMasterId id="214748366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5518543-3278-49E4-A35A-03B551978FA5}">
  <a:tblStyle styleId="{E5518543-3278-49E4-A35A-03B551978FA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450DAB85-EDE7-4531-B560-F2E11D1F178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11" Type="http://schemas.openxmlformats.org/officeDocument/2006/relationships/slide" Target="slides/slide3.xml"/><Relationship Id="rId22" Type="http://schemas.openxmlformats.org/officeDocument/2006/relationships/slide" Target="slides/slide14.xml"/><Relationship Id="rId10" Type="http://schemas.openxmlformats.org/officeDocument/2006/relationships/slide" Target="slides/slide2.xml"/><Relationship Id="rId21" Type="http://schemas.openxmlformats.org/officeDocument/2006/relationships/slide" Target="slides/slide13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1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0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5d10c7279824c6e0_3_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h5d10c7279824c6e0_3_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h5d10c7279824c6e0_3_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5d10c7279824c6e0_3_8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h5d10c7279824c6e0_3_8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h5d10c7279824c6e0_3_8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h5d10c7279824c6e0_3_295:notes"/>
          <p:cNvSpPr/>
          <p:nvPr>
            <p:ph idx="2" type="sldImg"/>
          </p:nvPr>
        </p:nvSpPr>
        <p:spPr>
          <a:xfrm>
            <a:off x="1371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h5d10c7279824c6e0_3_29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/>
              <a:t>Cómo funciona k-means (para quien pregunte):</a:t>
            </a:r>
            <a:br>
              <a:rPr lang="es-419"/>
            </a:br>
            <a:r>
              <a:rPr lang="es-419"/>
              <a:t>1. Se fija el número de perfiles: 7.</a:t>
            </a:r>
            <a:br>
              <a:rPr lang="es-419"/>
            </a:br>
            <a:r>
              <a:rPr lang="es-419"/>
              <a:t>2. Se ubican 7 centros iniciales, uno por perfil.</a:t>
            </a:r>
            <a:br>
              <a:rPr lang="es-419"/>
            </a:br>
            <a:r>
              <a:rPr lang="es-419"/>
              <a:t>3. Cada celda se asigna al centro más cercano. La distancia es la suma de diferencias en las 6 variables estandarizadas (score, mora, % bancarizado, % comercial, renta, patrimonio), para que todas pesen lo mismo.</a:t>
            </a:r>
            <a:br>
              <a:rPr lang="es-419"/>
            </a:br>
            <a:r>
              <a:rPr lang="es-419"/>
              <a:t>4. Cada centro se recalcula como el promedio de sus celdas.</a:t>
            </a:r>
            <a:br>
              <a:rPr lang="es-419"/>
            </a:br>
            <a:r>
              <a:rPr lang="es-419"/>
              <a:t>5. Se repiten 3 y 4 hasta que ninguna celda cambia de perfil.</a:t>
            </a:r>
            <a:br>
              <a:rPr lang="es-419"/>
            </a:br>
            <a:r>
              <a:rPr lang="es-419"/>
              <a:t>No hay umbral fijo: cada celda queda en el perfil cuyo centro le está más cerca que cualquiera de los otros seis.</a:t>
            </a:r>
            <a:endParaRPr/>
          </a:p>
        </p:txBody>
      </p:sp>
      <p:sp>
        <p:nvSpPr>
          <p:cNvPr id="353" name="Google Shape;353;h5d10c7279824c6e0_3_29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h5d10c7279824c6e0_3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h5d10c7279824c6e0_3_3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h5d10c7279824c6e0_3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h5d10c7279824c6e0_3_3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h5d10c7279824c6e0_3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h5d10c7279824c6e0_3_3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h5d10c7279824c6e0_3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h5d10c7279824c6e0_3_33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h4778afc5d00d8265_0_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1" name="Google Shape;601;h4778afc5d00d8265_0_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h4778afc5d00d8265_0_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h4778afc5d00d8265_0_225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1" name="Google Shape;681;h4778afc5d00d8265_0_225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h4778afc5d00d8265_0_225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h1fed0f36092b97e2_7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4" name="Google Shape;834;h1fed0f36092b97e2_7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Cómo funciona k-means (para quien pregunte):</a:t>
            </a:r>
            <a:br>
              <a:rPr lang="es-419"/>
            </a:br>
            <a:r>
              <a:rPr lang="es-419"/>
              <a:t>1. Se fija el número de perfiles: 7.</a:t>
            </a:r>
            <a:br>
              <a:rPr lang="es-419"/>
            </a:br>
            <a:r>
              <a:rPr lang="es-419"/>
              <a:t>2. Se ubican 7 centros iniciales, uno por perfil.</a:t>
            </a:r>
            <a:br>
              <a:rPr lang="es-419"/>
            </a:br>
            <a:r>
              <a:rPr lang="es-419"/>
              <a:t>3. Cada celda se asigna al centro más cercano. La distancia es la suma de diferencias en las 6 variables estandarizadas (score, mora, % bancarizado, % comercial, renta, patrimonio), para que todas pesen lo mismo.</a:t>
            </a:r>
            <a:br>
              <a:rPr lang="es-419"/>
            </a:br>
            <a:r>
              <a:rPr lang="es-419"/>
              <a:t>4. Cada centro se recalcula como el promedio de sus celdas.</a:t>
            </a:r>
            <a:br>
              <a:rPr lang="es-419"/>
            </a:br>
            <a:r>
              <a:rPr lang="es-419"/>
              <a:t>5. Se repiten 3 y 4 hasta que ninguna celda cambia de perfil.</a:t>
            </a:r>
            <a:br>
              <a:rPr lang="es-419"/>
            </a:br>
            <a:r>
              <a:rPr lang="es-419"/>
              <a:t>No hay umbral fijo: cada celda queda en el perfil cuyo centro le está más cerca que cualquiera de los otros seis.</a:t>
            </a:r>
            <a:endParaRPr/>
          </a:p>
        </p:txBody>
      </p:sp>
      <p:sp>
        <p:nvSpPr>
          <p:cNvPr id="835" name="Google Shape;835;h1fed0f36092b97e2_7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h1fed0f36092b97e2_1_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2" name="Google Shape;842;h1fed0f36092b97e2_1_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Cómo funciona k-means (para quien pregunte):</a:t>
            </a:r>
            <a:b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Se fija el número de perfiles: 7.</a:t>
            </a:r>
            <a:b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Se ubican 7 centros iniciales, uno por perfil.</a:t>
            </a:r>
            <a:b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Cada celda se asigna al centro más cercano. La distancia es la suma de diferencias en las 6 variables estandarizadas (score, mora, % bancarizado, % comercial, renta, patrimonio), para que todas pesen lo mismo.</a:t>
            </a:r>
            <a:b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Cada centro se recalcula como el promedio de sus celdas.</a:t>
            </a:r>
            <a:b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Se repiten 3 y 4 hasta que ninguna celda cambia de perfil.</a:t>
            </a:r>
            <a:b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hay umbral fijo: cada celda queda en el perfil cuyo centro le está más cerca que cualquiera de los otros seis.</a:t>
            </a:r>
            <a:endParaRPr/>
          </a:p>
        </p:txBody>
      </p:sp>
      <p:sp>
        <p:nvSpPr>
          <p:cNvPr id="843" name="Google Shape;843;h1fed0f36092b97e2_1_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h3a4666d038ea9e62_1_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5" name="Google Shape;905;h3a4666d038ea9e62_1_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h3a4666d038ea9e62_1_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h4778afc5d00d8265_3_169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2" name="Google Shape;942;h4778afc5d00d8265_3_169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h4778afc5d00d8265_3_169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h4778afc5d00d8265_3_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2" name="Google Shape;952;h4778afc5d00d8265_3_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h4778afc5d00d8265_3_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/>
          <p:nvPr/>
        </p:nvSpPr>
        <p:spPr>
          <a:xfrm>
            <a:off x="0" y="0"/>
            <a:ext cx="9141600" cy="58290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7"/>
          <p:cNvSpPr txBox="1"/>
          <p:nvPr/>
        </p:nvSpPr>
        <p:spPr>
          <a:xfrm>
            <a:off x="377190" y="82296"/>
            <a:ext cx="83667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¿Cómo encontramos los 7 perfiles?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7"/>
          <p:cNvSpPr txBox="1"/>
          <p:nvPr/>
        </p:nvSpPr>
        <p:spPr>
          <a:xfrm>
            <a:off x="1366525" y="830150"/>
            <a:ext cx="3233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7"/>
          <p:cNvSpPr txBox="1"/>
          <p:nvPr/>
        </p:nvSpPr>
        <p:spPr>
          <a:xfrm>
            <a:off x="6089904" y="830150"/>
            <a:ext cx="2724912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Experiencia en la industria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7"/>
          <p:cNvSpPr txBox="1"/>
          <p:nvPr/>
        </p:nvSpPr>
        <p:spPr>
          <a:xfrm>
            <a:off x="388615" y="4828032"/>
            <a:ext cx="83667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Fuente: Panel Equifax Chile. Segmentación sobre 90 celdas (todas las edades y GSE). El universo Tenpo (18-54 años, sin E Sub Bancarizado) se define después.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7"/>
          <p:cNvSpPr txBox="1"/>
          <p:nvPr/>
        </p:nvSpPr>
        <p:spPr>
          <a:xfrm>
            <a:off x="6094225" y="1157800"/>
            <a:ext cx="2721300" cy="1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s-419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Las celdas en la frontera entre dos perfiles se asignaron con </a:t>
            </a:r>
            <a:r>
              <a:rPr b="1" i="0" lang="es-419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criterio de negocio</a:t>
            </a:r>
            <a:r>
              <a:rPr b="0" i="0" lang="es-419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siempre a un perfil </a:t>
            </a:r>
            <a:r>
              <a:rPr b="1" i="0" lang="es-419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cercano al que indicaba el algoritmo.</a:t>
            </a:r>
            <a:endParaRPr b="1" i="0" sz="10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7"/>
          <p:cNvSpPr txBox="1"/>
          <p:nvPr/>
        </p:nvSpPr>
        <p:spPr>
          <a:xfrm>
            <a:off x="290575" y="2345510"/>
            <a:ext cx="8525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Arial"/>
              <a:buNone/>
            </a:pPr>
            <a:r>
              <a:rPr b="1" i="0" lang="es-419" sz="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¿Por qué una persona queda en un perfil y no en otro?</a:t>
            </a:r>
            <a:r>
              <a:rPr b="0" i="0" lang="es-419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 Funciona como asignar vecinos a la sucursal más cercana a su comuna.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/>
          <p:nvPr/>
        </p:nvSpPr>
        <p:spPr>
          <a:xfrm>
            <a:off x="290575" y="2699557"/>
            <a:ext cx="3206700" cy="1234500"/>
          </a:xfrm>
          <a:prstGeom prst="roundRect">
            <a:avLst>
              <a:gd fmla="val 4444" name="adj"/>
            </a:avLst>
          </a:prstGeom>
          <a:solidFill>
            <a:srgbClr val="F8FA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" name="Google Shape;67;p17"/>
          <p:cNvCxnSpPr/>
          <p:nvPr/>
        </p:nvCxnSpPr>
        <p:spPr>
          <a:xfrm>
            <a:off x="569394" y="2960158"/>
            <a:ext cx="453000" cy="3567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17"/>
          <p:cNvCxnSpPr/>
          <p:nvPr/>
        </p:nvCxnSpPr>
        <p:spPr>
          <a:xfrm flipH="1">
            <a:off x="499874" y="3316769"/>
            <a:ext cx="522600" cy="342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17"/>
          <p:cNvCxnSpPr/>
          <p:nvPr/>
        </p:nvCxnSpPr>
        <p:spPr>
          <a:xfrm flipH="1">
            <a:off x="673874" y="3316769"/>
            <a:ext cx="348600" cy="3771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7"/>
          <p:cNvCxnSpPr/>
          <p:nvPr/>
        </p:nvCxnSpPr>
        <p:spPr>
          <a:xfrm>
            <a:off x="1022474" y="3316769"/>
            <a:ext cx="278700" cy="2742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7"/>
          <p:cNvCxnSpPr/>
          <p:nvPr/>
        </p:nvCxnSpPr>
        <p:spPr>
          <a:xfrm flipH="1">
            <a:off x="1022307" y="2905295"/>
            <a:ext cx="488100" cy="4116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7"/>
          <p:cNvCxnSpPr/>
          <p:nvPr/>
        </p:nvCxnSpPr>
        <p:spPr>
          <a:xfrm>
            <a:off x="1022474" y="3316769"/>
            <a:ext cx="627000" cy="1371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7"/>
          <p:cNvCxnSpPr/>
          <p:nvPr/>
        </p:nvCxnSpPr>
        <p:spPr>
          <a:xfrm flipH="1">
            <a:off x="1022514" y="3111032"/>
            <a:ext cx="745800" cy="2058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17"/>
          <p:cNvCxnSpPr/>
          <p:nvPr/>
        </p:nvCxnSpPr>
        <p:spPr>
          <a:xfrm flipH="1">
            <a:off x="1998291" y="3316769"/>
            <a:ext cx="766800" cy="3429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17"/>
          <p:cNvCxnSpPr/>
          <p:nvPr/>
        </p:nvCxnSpPr>
        <p:spPr>
          <a:xfrm>
            <a:off x="2207454" y="3076742"/>
            <a:ext cx="557700" cy="2400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17"/>
          <p:cNvCxnSpPr/>
          <p:nvPr/>
        </p:nvCxnSpPr>
        <p:spPr>
          <a:xfrm flipH="1">
            <a:off x="2312091" y="3316769"/>
            <a:ext cx="453000" cy="342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p17"/>
          <p:cNvCxnSpPr/>
          <p:nvPr/>
        </p:nvCxnSpPr>
        <p:spPr>
          <a:xfrm flipH="1">
            <a:off x="2625591" y="3316769"/>
            <a:ext cx="139500" cy="4116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" name="Google Shape;78;p17"/>
          <p:cNvCxnSpPr/>
          <p:nvPr/>
        </p:nvCxnSpPr>
        <p:spPr>
          <a:xfrm flipH="1">
            <a:off x="2765143" y="2905295"/>
            <a:ext cx="34800" cy="4116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" name="Google Shape;79;p17"/>
          <p:cNvCxnSpPr/>
          <p:nvPr/>
        </p:nvCxnSpPr>
        <p:spPr>
          <a:xfrm flipH="1">
            <a:off x="2765014" y="3145321"/>
            <a:ext cx="348600" cy="1716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" name="Google Shape;80;p17"/>
          <p:cNvCxnSpPr/>
          <p:nvPr/>
        </p:nvCxnSpPr>
        <p:spPr>
          <a:xfrm>
            <a:off x="2765091" y="3316769"/>
            <a:ext cx="453000" cy="3087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" name="Google Shape;81;p17"/>
          <p:cNvCxnSpPr/>
          <p:nvPr/>
        </p:nvCxnSpPr>
        <p:spPr>
          <a:xfrm flipH="1">
            <a:off x="2381691" y="3316769"/>
            <a:ext cx="383400" cy="4458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" name="Google Shape;82;p17"/>
          <p:cNvCxnSpPr/>
          <p:nvPr/>
        </p:nvCxnSpPr>
        <p:spPr>
          <a:xfrm>
            <a:off x="1893783" y="2768136"/>
            <a:ext cx="0" cy="1097400"/>
          </a:xfrm>
          <a:prstGeom prst="straightConnector1">
            <a:avLst/>
          </a:prstGeom>
          <a:noFill/>
          <a:ln cap="flat" cmpd="sng" w="15875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3" name="Google Shape;83;p17"/>
          <p:cNvSpPr txBox="1"/>
          <p:nvPr/>
        </p:nvSpPr>
        <p:spPr>
          <a:xfrm>
            <a:off x="673951" y="3714528"/>
            <a:ext cx="1164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b="0" i="1" lang="es-419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frontera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520600" y="2912152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450896" y="3303053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625157" y="3645949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1252500" y="3543080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1461614" y="2857289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1601023" y="3405922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1719521" y="3063026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1949546" y="3611659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2158660" y="3028737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2263217" y="3303053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2576888" y="3680238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2751150" y="2857289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3064821" y="3097316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3169378" y="3577370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2332922" y="3714528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848212" y="3145321"/>
            <a:ext cx="348600" cy="342900"/>
          </a:xfrm>
          <a:prstGeom prst="ellipse">
            <a:avLst/>
          </a:prstGeom>
          <a:solidFill>
            <a:srgbClr val="A8BCE0"/>
          </a:solidFill>
          <a:ln cap="flat" cmpd="sng" w="19050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848212" y="3145321"/>
            <a:ext cx="34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2590829" y="3145321"/>
            <a:ext cx="348600" cy="342900"/>
          </a:xfrm>
          <a:prstGeom prst="ellipse">
            <a:avLst/>
          </a:prstGeom>
          <a:solidFill>
            <a:srgbClr val="A9D6CC"/>
          </a:solidFill>
          <a:ln cap="flat" cmpd="sng" w="19050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2590829" y="3145321"/>
            <a:ext cx="34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492719" y="2884721"/>
            <a:ext cx="153300" cy="150900"/>
          </a:xfrm>
          <a:prstGeom prst="ellipse">
            <a:avLst/>
          </a:prstGeom>
          <a:solidFill>
            <a:srgbClr val="A8BCE0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680921" y="2884721"/>
            <a:ext cx="83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600"/>
              <a:buFont typeface="Arial"/>
              <a:buNone/>
            </a:pPr>
            <a:r>
              <a:rPr b="1" i="0" lang="es-419" sz="6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Ej: C2 B, 35-39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3706104" y="2699557"/>
            <a:ext cx="5109300" cy="226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3789750" y="2699557"/>
            <a:ext cx="6972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Vecino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4472856" y="2699557"/>
            <a:ext cx="2091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4716822" y="2699557"/>
            <a:ext cx="40287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Persona: </a:t>
            </a:r>
            <a:r>
              <a:rPr b="0" i="0" lang="es-419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cae en una sola celda, definida por su edad, GSE y bancarización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3706104" y="2946442"/>
            <a:ext cx="5109300" cy="22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3789750" y="2946442"/>
            <a:ext cx="6972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Comuna (90)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4472856" y="2946442"/>
            <a:ext cx="2091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4716822" y="2946442"/>
            <a:ext cx="40287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Celda: </a:t>
            </a:r>
            <a:r>
              <a:rPr b="0" i="0" lang="es-419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ej: un C2 bancarizado de 37 años vive en la celda "C2 B, 35-39"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3706104" y="3193327"/>
            <a:ext cx="5109300" cy="226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3789750" y="3193327"/>
            <a:ext cx="6972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Sucursal (7)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4472856" y="3193327"/>
            <a:ext cx="2091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4716822" y="3193327"/>
            <a:ext cx="40287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Perfil: </a:t>
            </a:r>
            <a:r>
              <a:rPr b="0" i="0" lang="es-419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cada celda, con todas sus personas, va al perfil más cercano: "C2 B, 35-39" va a 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3706104" y="3440212"/>
            <a:ext cx="5109300" cy="22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3789750" y="3440212"/>
            <a:ext cx="6972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Cercanía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4472856" y="3440212"/>
            <a:ext cx="2091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4716822" y="3440212"/>
            <a:ext cx="40287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7 variables a la vez: </a:t>
            </a:r>
            <a:r>
              <a:rPr b="0" i="0" lang="es-419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score, mora, % bancarizado, % comercial, renta, patrimonio y edad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3706104" y="3687096"/>
            <a:ext cx="5109300" cy="226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3789750" y="3687096"/>
            <a:ext cx="6972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Frontera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4472856" y="3687096"/>
            <a:ext cx="2091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4716822" y="3687096"/>
            <a:ext cx="40287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Criterio experto: </a:t>
            </a:r>
            <a:r>
              <a:rPr b="0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en celdas de frontera, el equipo eligió el perfil, cercano a lo que indicó el algoritmo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292608" y="1097280"/>
            <a:ext cx="2624328" cy="466344"/>
          </a:xfrm>
          <a:prstGeom prst="roundRect">
            <a:avLst>
              <a:gd fmla="val 5263" name="adj"/>
            </a:avLst>
          </a:prstGeom>
          <a:solidFill>
            <a:srgbClr val="FEF2F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384048" y="114300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100"/>
              <a:buFont typeface="Arial"/>
              <a:buNone/>
            </a:pPr>
            <a:r>
              <a:rPr b="1" i="0" lang="es-419" sz="110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Salud crediticia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384048" y="1362456"/>
            <a:ext cx="2423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Score</a:t>
            </a:r>
            <a:r>
              <a:rPr b="0" i="0" lang="es-419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% Mora</a:t>
            </a:r>
            <a:r>
              <a:rPr b="0" i="0" lang="es-419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3054096" y="1097280"/>
            <a:ext cx="2624328" cy="466344"/>
          </a:xfrm>
          <a:prstGeom prst="roundRect">
            <a:avLst>
              <a:gd fmla="val 5263" name="adj"/>
            </a:avLst>
          </a:prstGeom>
          <a:solidFill>
            <a:srgbClr val="FFFBEB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3145536" y="114300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Arial"/>
              <a:buNone/>
            </a:pPr>
            <a:r>
              <a:rPr b="1" i="0" lang="es-419" sz="11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Clasificación B / SB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3145536" y="1362456"/>
            <a:ext cx="2423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% Bancarizado, % Comercial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292608" y="1645920"/>
            <a:ext cx="2624328" cy="466344"/>
          </a:xfrm>
          <a:prstGeom prst="roundRect">
            <a:avLst>
              <a:gd fmla="val 5263" name="adj"/>
            </a:avLst>
          </a:prstGeom>
          <a:solidFill>
            <a:srgbClr val="F0FDF4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384048" y="169164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Arial"/>
              <a:buNone/>
            </a:pPr>
            <a:r>
              <a:rPr b="1" i="0" lang="es-419" sz="110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Respaldo económico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384048" y="1911095"/>
            <a:ext cx="2423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Renta</a:t>
            </a:r>
            <a:r>
              <a:rPr b="0" i="0" lang="es-419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Patrimonio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3054096" y="1645920"/>
            <a:ext cx="2624328" cy="466344"/>
          </a:xfrm>
          <a:prstGeom prst="roundRect">
            <a:avLst>
              <a:gd fmla="val 5263" name="adj"/>
            </a:avLst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3145536" y="169164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Arial"/>
              <a:buNone/>
            </a:pPr>
            <a:r>
              <a:rPr b="1" i="0" lang="es-419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Etapa de vida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3145536" y="1911095"/>
            <a:ext cx="2423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Edad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/>
          <p:nvPr/>
        </p:nvSpPr>
        <p:spPr>
          <a:xfrm>
            <a:off x="0" y="0"/>
            <a:ext cx="9141600" cy="58290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377190" y="129449"/>
            <a:ext cx="83667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Resultado: 7 perfiles sobre las 90 celdas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388615" y="4828032"/>
            <a:ext cx="83667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Fuente: Panel Equifax Chile. Perfil de cada celda según k-means (6 variables financieras y edad) y ajuste por criterio experto en celdas de frontera.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841248" y="731520"/>
            <a:ext cx="3785616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Sub Bancarizado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841248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1609344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2377440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C3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3145536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C2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3913632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ABC1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4937760" y="731520"/>
            <a:ext cx="3785616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Bancarizado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4937760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5705856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6473952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C3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7242048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C2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8010144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ABC1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274320" y="905256"/>
            <a:ext cx="50292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Edad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274320" y="1078992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18-24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841248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>
              <a:alpha val="40000"/>
            </a:srgbClr>
          </a:solidFill>
          <a:ln cap="flat" cmpd="sng" w="12700">
            <a:solidFill>
              <a:srgbClr val="BDD7EE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841248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1609344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1609344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2377440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2377440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3145536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3145536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3913632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3913632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4937760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4937760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5705856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5705856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6473952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6473952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7242048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7242048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8010144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8010144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274320" y="1344168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25-29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841248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>
              <a:alpha val="40000"/>
            </a:srgbClr>
          </a:solidFill>
          <a:ln cap="flat" cmpd="sng" w="12700">
            <a:solidFill>
              <a:srgbClr val="BDD7EE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841248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1609344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1609344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2377440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2377440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3145536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3145536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3913632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3913632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4937760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4937760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5705856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5705856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6473952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6473952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7242048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7242048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8010144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8010144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274320" y="1609343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30-34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841248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>
              <a:alpha val="40000"/>
            </a:srgbClr>
          </a:solidFill>
          <a:ln cap="flat" cmpd="sng" w="12700">
            <a:solidFill>
              <a:srgbClr val="F3B9B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841248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1609344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1609344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2377440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2377440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3145536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3145536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3913632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3913632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4937760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4937760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5705856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5705856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6473952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6473952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7242048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7242048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8010144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8010144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274320" y="1874519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35-39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841248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>
              <a:alpha val="40000"/>
            </a:srgbClr>
          </a:solidFill>
          <a:ln cap="flat" cmpd="sng" w="12700">
            <a:solidFill>
              <a:srgbClr val="F3B9B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841248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1609344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1609344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2377440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2377440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3145536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3145536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3913632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 txBox="1"/>
          <p:nvPr/>
        </p:nvSpPr>
        <p:spPr>
          <a:xfrm>
            <a:off x="3913632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4937760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4937760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5705856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 txBox="1"/>
          <p:nvPr/>
        </p:nvSpPr>
        <p:spPr>
          <a:xfrm>
            <a:off x="5705856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6473952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6473952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7242048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7242048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8010144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>
            <a:off x="8010144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 txBox="1"/>
          <p:nvPr/>
        </p:nvSpPr>
        <p:spPr>
          <a:xfrm>
            <a:off x="274320" y="2139696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40-44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841248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>
              <a:alpha val="40000"/>
            </a:srgbClr>
          </a:solidFill>
          <a:ln cap="flat" cmpd="sng" w="12700">
            <a:solidFill>
              <a:srgbClr val="F3B9B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 txBox="1"/>
          <p:nvPr/>
        </p:nvSpPr>
        <p:spPr>
          <a:xfrm>
            <a:off x="841248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1609344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 txBox="1"/>
          <p:nvPr/>
        </p:nvSpPr>
        <p:spPr>
          <a:xfrm>
            <a:off x="1609344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2377440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 txBox="1"/>
          <p:nvPr/>
        </p:nvSpPr>
        <p:spPr>
          <a:xfrm>
            <a:off x="2377440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3145536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 txBox="1"/>
          <p:nvPr/>
        </p:nvSpPr>
        <p:spPr>
          <a:xfrm>
            <a:off x="3145536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3913632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 txBox="1"/>
          <p:nvPr/>
        </p:nvSpPr>
        <p:spPr>
          <a:xfrm>
            <a:off x="3913632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4937760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 txBox="1"/>
          <p:nvPr/>
        </p:nvSpPr>
        <p:spPr>
          <a:xfrm>
            <a:off x="4937760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5705856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 txBox="1"/>
          <p:nvPr/>
        </p:nvSpPr>
        <p:spPr>
          <a:xfrm>
            <a:off x="5705856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6473952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 txBox="1"/>
          <p:nvPr/>
        </p:nvSpPr>
        <p:spPr>
          <a:xfrm>
            <a:off x="6473952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7242048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 txBox="1"/>
          <p:nvPr/>
        </p:nvSpPr>
        <p:spPr>
          <a:xfrm>
            <a:off x="7242048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8010144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8"/>
          <p:cNvSpPr txBox="1"/>
          <p:nvPr/>
        </p:nvSpPr>
        <p:spPr>
          <a:xfrm>
            <a:off x="8010144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 txBox="1"/>
          <p:nvPr/>
        </p:nvSpPr>
        <p:spPr>
          <a:xfrm>
            <a:off x="274320" y="2404872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45-49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841248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 txBox="1"/>
          <p:nvPr/>
        </p:nvSpPr>
        <p:spPr>
          <a:xfrm>
            <a:off x="841248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1609344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8"/>
          <p:cNvSpPr txBox="1"/>
          <p:nvPr/>
        </p:nvSpPr>
        <p:spPr>
          <a:xfrm>
            <a:off x="1609344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2377440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8"/>
          <p:cNvSpPr txBox="1"/>
          <p:nvPr/>
        </p:nvSpPr>
        <p:spPr>
          <a:xfrm>
            <a:off x="2377440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8"/>
          <p:cNvSpPr/>
          <p:nvPr/>
        </p:nvSpPr>
        <p:spPr>
          <a:xfrm>
            <a:off x="3145536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8"/>
          <p:cNvSpPr txBox="1"/>
          <p:nvPr/>
        </p:nvSpPr>
        <p:spPr>
          <a:xfrm>
            <a:off x="3145536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3913632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8"/>
          <p:cNvSpPr txBox="1"/>
          <p:nvPr/>
        </p:nvSpPr>
        <p:spPr>
          <a:xfrm>
            <a:off x="3913632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4937760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 txBox="1"/>
          <p:nvPr/>
        </p:nvSpPr>
        <p:spPr>
          <a:xfrm>
            <a:off x="4937760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8"/>
          <p:cNvSpPr/>
          <p:nvPr/>
        </p:nvSpPr>
        <p:spPr>
          <a:xfrm>
            <a:off x="5705856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8"/>
          <p:cNvSpPr txBox="1"/>
          <p:nvPr/>
        </p:nvSpPr>
        <p:spPr>
          <a:xfrm>
            <a:off x="5705856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8"/>
          <p:cNvSpPr/>
          <p:nvPr/>
        </p:nvSpPr>
        <p:spPr>
          <a:xfrm>
            <a:off x="6473952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 txBox="1"/>
          <p:nvPr/>
        </p:nvSpPr>
        <p:spPr>
          <a:xfrm>
            <a:off x="6473952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7242048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8"/>
          <p:cNvSpPr txBox="1"/>
          <p:nvPr/>
        </p:nvSpPr>
        <p:spPr>
          <a:xfrm>
            <a:off x="7242048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8010144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 txBox="1"/>
          <p:nvPr/>
        </p:nvSpPr>
        <p:spPr>
          <a:xfrm>
            <a:off x="8010144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8"/>
          <p:cNvSpPr txBox="1"/>
          <p:nvPr/>
        </p:nvSpPr>
        <p:spPr>
          <a:xfrm>
            <a:off x="274320" y="2670047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50-54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8"/>
          <p:cNvSpPr/>
          <p:nvPr/>
        </p:nvSpPr>
        <p:spPr>
          <a:xfrm>
            <a:off x="841248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8"/>
          <p:cNvSpPr txBox="1"/>
          <p:nvPr/>
        </p:nvSpPr>
        <p:spPr>
          <a:xfrm>
            <a:off x="841248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8"/>
          <p:cNvSpPr/>
          <p:nvPr/>
        </p:nvSpPr>
        <p:spPr>
          <a:xfrm>
            <a:off x="1609344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8"/>
          <p:cNvSpPr txBox="1"/>
          <p:nvPr/>
        </p:nvSpPr>
        <p:spPr>
          <a:xfrm>
            <a:off x="1609344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8"/>
          <p:cNvSpPr/>
          <p:nvPr/>
        </p:nvSpPr>
        <p:spPr>
          <a:xfrm>
            <a:off x="2377440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8"/>
          <p:cNvSpPr txBox="1"/>
          <p:nvPr/>
        </p:nvSpPr>
        <p:spPr>
          <a:xfrm>
            <a:off x="2377440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8"/>
          <p:cNvSpPr/>
          <p:nvPr/>
        </p:nvSpPr>
        <p:spPr>
          <a:xfrm>
            <a:off x="3145536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8"/>
          <p:cNvSpPr txBox="1"/>
          <p:nvPr/>
        </p:nvSpPr>
        <p:spPr>
          <a:xfrm>
            <a:off x="3145536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8"/>
          <p:cNvSpPr/>
          <p:nvPr/>
        </p:nvSpPr>
        <p:spPr>
          <a:xfrm>
            <a:off x="3913632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8"/>
          <p:cNvSpPr txBox="1"/>
          <p:nvPr/>
        </p:nvSpPr>
        <p:spPr>
          <a:xfrm>
            <a:off x="3913632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8"/>
          <p:cNvSpPr/>
          <p:nvPr/>
        </p:nvSpPr>
        <p:spPr>
          <a:xfrm>
            <a:off x="4937760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8"/>
          <p:cNvSpPr txBox="1"/>
          <p:nvPr/>
        </p:nvSpPr>
        <p:spPr>
          <a:xfrm>
            <a:off x="4937760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8"/>
          <p:cNvSpPr/>
          <p:nvPr/>
        </p:nvSpPr>
        <p:spPr>
          <a:xfrm>
            <a:off x="5705856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8"/>
          <p:cNvSpPr txBox="1"/>
          <p:nvPr/>
        </p:nvSpPr>
        <p:spPr>
          <a:xfrm>
            <a:off x="5705856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8"/>
          <p:cNvSpPr/>
          <p:nvPr/>
        </p:nvSpPr>
        <p:spPr>
          <a:xfrm>
            <a:off x="6473952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 txBox="1"/>
          <p:nvPr/>
        </p:nvSpPr>
        <p:spPr>
          <a:xfrm>
            <a:off x="6473952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8"/>
          <p:cNvSpPr/>
          <p:nvPr/>
        </p:nvSpPr>
        <p:spPr>
          <a:xfrm>
            <a:off x="7242048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8"/>
          <p:cNvSpPr txBox="1"/>
          <p:nvPr/>
        </p:nvSpPr>
        <p:spPr>
          <a:xfrm>
            <a:off x="7242048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8"/>
          <p:cNvSpPr/>
          <p:nvPr/>
        </p:nvSpPr>
        <p:spPr>
          <a:xfrm>
            <a:off x="8010144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8"/>
          <p:cNvSpPr txBox="1"/>
          <p:nvPr/>
        </p:nvSpPr>
        <p:spPr>
          <a:xfrm>
            <a:off x="8010144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8"/>
          <p:cNvSpPr txBox="1"/>
          <p:nvPr/>
        </p:nvSpPr>
        <p:spPr>
          <a:xfrm>
            <a:off x="274320" y="2935223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55-59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841248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 txBox="1"/>
          <p:nvPr/>
        </p:nvSpPr>
        <p:spPr>
          <a:xfrm>
            <a:off x="841248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1609344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8"/>
          <p:cNvSpPr txBox="1"/>
          <p:nvPr/>
        </p:nvSpPr>
        <p:spPr>
          <a:xfrm>
            <a:off x="1609344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2377440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8"/>
          <p:cNvSpPr txBox="1"/>
          <p:nvPr/>
        </p:nvSpPr>
        <p:spPr>
          <a:xfrm>
            <a:off x="2377440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3145536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8"/>
          <p:cNvSpPr txBox="1"/>
          <p:nvPr/>
        </p:nvSpPr>
        <p:spPr>
          <a:xfrm>
            <a:off x="3145536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3913632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D7C7A1">
              <a:alpha val="40000"/>
            </a:srgbClr>
          </a:solidFill>
          <a:ln cap="flat" cmpd="sng" w="12700">
            <a:solidFill>
              <a:srgbClr val="D7C7A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8"/>
          <p:cNvSpPr txBox="1"/>
          <p:nvPr/>
        </p:nvSpPr>
        <p:spPr>
          <a:xfrm>
            <a:off x="3913632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8"/>
          <p:cNvSpPr/>
          <p:nvPr/>
        </p:nvSpPr>
        <p:spPr>
          <a:xfrm>
            <a:off x="4937760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>
              <a:alpha val="40000"/>
            </a:srgbClr>
          </a:solidFill>
          <a:ln cap="flat" cmpd="sng" w="12700">
            <a:solidFill>
              <a:srgbClr val="A9D6C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8"/>
          <p:cNvSpPr txBox="1"/>
          <p:nvPr/>
        </p:nvSpPr>
        <p:spPr>
          <a:xfrm>
            <a:off x="4937760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5705856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>
              <a:alpha val="40000"/>
            </a:srgbClr>
          </a:solidFill>
          <a:ln cap="flat" cmpd="sng" w="12700">
            <a:solidFill>
              <a:srgbClr val="A9D6C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8"/>
          <p:cNvSpPr txBox="1"/>
          <p:nvPr/>
        </p:nvSpPr>
        <p:spPr>
          <a:xfrm>
            <a:off x="5705856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8"/>
          <p:cNvSpPr/>
          <p:nvPr/>
        </p:nvSpPr>
        <p:spPr>
          <a:xfrm>
            <a:off x="6473952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>
              <a:alpha val="40000"/>
            </a:srgbClr>
          </a:solidFill>
          <a:ln cap="flat" cmpd="sng" w="12700">
            <a:solidFill>
              <a:srgbClr val="A9D6C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8"/>
          <p:cNvSpPr txBox="1"/>
          <p:nvPr/>
        </p:nvSpPr>
        <p:spPr>
          <a:xfrm>
            <a:off x="6473952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8"/>
          <p:cNvSpPr/>
          <p:nvPr/>
        </p:nvSpPr>
        <p:spPr>
          <a:xfrm>
            <a:off x="7242048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>
              <a:alpha val="40000"/>
            </a:srgbClr>
          </a:solidFill>
          <a:ln cap="flat" cmpd="sng" w="12700">
            <a:solidFill>
              <a:srgbClr val="A8BC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8"/>
          <p:cNvSpPr txBox="1"/>
          <p:nvPr/>
        </p:nvSpPr>
        <p:spPr>
          <a:xfrm>
            <a:off x="7242048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8"/>
          <p:cNvSpPr/>
          <p:nvPr/>
        </p:nvSpPr>
        <p:spPr>
          <a:xfrm>
            <a:off x="8010144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>
              <a:alpha val="40000"/>
            </a:srgbClr>
          </a:solidFill>
          <a:ln cap="flat" cmpd="sng" w="12700">
            <a:solidFill>
              <a:srgbClr val="A8BC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8"/>
          <p:cNvSpPr txBox="1"/>
          <p:nvPr/>
        </p:nvSpPr>
        <p:spPr>
          <a:xfrm>
            <a:off x="8010144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8"/>
          <p:cNvSpPr txBox="1"/>
          <p:nvPr/>
        </p:nvSpPr>
        <p:spPr>
          <a:xfrm>
            <a:off x="274320" y="3200399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60+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841248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8"/>
          <p:cNvSpPr txBox="1"/>
          <p:nvPr/>
        </p:nvSpPr>
        <p:spPr>
          <a:xfrm>
            <a:off x="841248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8"/>
          <p:cNvSpPr/>
          <p:nvPr/>
        </p:nvSpPr>
        <p:spPr>
          <a:xfrm>
            <a:off x="1609344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8"/>
          <p:cNvSpPr txBox="1"/>
          <p:nvPr/>
        </p:nvSpPr>
        <p:spPr>
          <a:xfrm>
            <a:off x="1609344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2377440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8"/>
          <p:cNvSpPr txBox="1"/>
          <p:nvPr/>
        </p:nvSpPr>
        <p:spPr>
          <a:xfrm>
            <a:off x="2377440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8"/>
          <p:cNvSpPr/>
          <p:nvPr/>
        </p:nvSpPr>
        <p:spPr>
          <a:xfrm>
            <a:off x="3145536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8"/>
          <p:cNvSpPr txBox="1"/>
          <p:nvPr/>
        </p:nvSpPr>
        <p:spPr>
          <a:xfrm>
            <a:off x="3145536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8"/>
          <p:cNvSpPr/>
          <p:nvPr/>
        </p:nvSpPr>
        <p:spPr>
          <a:xfrm>
            <a:off x="3913632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D7C7A1">
              <a:alpha val="40000"/>
            </a:srgbClr>
          </a:solidFill>
          <a:ln cap="flat" cmpd="sng" w="12700">
            <a:solidFill>
              <a:srgbClr val="D7C7A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8"/>
          <p:cNvSpPr txBox="1"/>
          <p:nvPr/>
        </p:nvSpPr>
        <p:spPr>
          <a:xfrm>
            <a:off x="3913632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4937760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>
              <a:alpha val="40000"/>
            </a:srgbClr>
          </a:solidFill>
          <a:ln cap="flat" cmpd="sng" w="12700">
            <a:solidFill>
              <a:srgbClr val="A9D6C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8"/>
          <p:cNvSpPr txBox="1"/>
          <p:nvPr/>
        </p:nvSpPr>
        <p:spPr>
          <a:xfrm>
            <a:off x="4937760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8"/>
          <p:cNvSpPr/>
          <p:nvPr/>
        </p:nvSpPr>
        <p:spPr>
          <a:xfrm>
            <a:off x="5705856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>
              <a:alpha val="40000"/>
            </a:srgbClr>
          </a:solidFill>
          <a:ln cap="flat" cmpd="sng" w="12700">
            <a:solidFill>
              <a:srgbClr val="A9D6C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 txBox="1"/>
          <p:nvPr/>
        </p:nvSpPr>
        <p:spPr>
          <a:xfrm>
            <a:off x="5705856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6473952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>
              <a:alpha val="40000"/>
            </a:srgbClr>
          </a:solidFill>
          <a:ln cap="flat" cmpd="sng" w="12700">
            <a:solidFill>
              <a:srgbClr val="A9D6C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 txBox="1"/>
          <p:nvPr/>
        </p:nvSpPr>
        <p:spPr>
          <a:xfrm>
            <a:off x="6473952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7242048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>
              <a:alpha val="40000"/>
            </a:srgbClr>
          </a:solidFill>
          <a:ln cap="flat" cmpd="sng" w="12700">
            <a:solidFill>
              <a:srgbClr val="A8BC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8"/>
          <p:cNvSpPr txBox="1"/>
          <p:nvPr/>
        </p:nvSpPr>
        <p:spPr>
          <a:xfrm>
            <a:off x="7242048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8010144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>
              <a:alpha val="40000"/>
            </a:srgbClr>
          </a:solidFill>
          <a:ln cap="flat" cmpd="sng" w="12700">
            <a:solidFill>
              <a:srgbClr val="A8BC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 txBox="1"/>
          <p:nvPr/>
        </p:nvSpPr>
        <p:spPr>
          <a:xfrm>
            <a:off x="8010144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1563624" y="1060704"/>
            <a:ext cx="3108960" cy="1883663"/>
          </a:xfrm>
          <a:prstGeom prst="rect">
            <a:avLst/>
          </a:prstGeom>
          <a:noFill/>
          <a:ln cap="flat" cmpd="sng" w="22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8"/>
          <p:cNvSpPr/>
          <p:nvPr/>
        </p:nvSpPr>
        <p:spPr>
          <a:xfrm>
            <a:off x="4892040" y="1060704"/>
            <a:ext cx="3877056" cy="1883663"/>
          </a:xfrm>
          <a:prstGeom prst="rect">
            <a:avLst/>
          </a:prstGeom>
          <a:noFill/>
          <a:ln cap="flat" cmpd="sng" w="22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8"/>
          <p:cNvSpPr txBox="1"/>
          <p:nvPr/>
        </p:nvSpPr>
        <p:spPr>
          <a:xfrm>
            <a:off x="274320" y="3593591"/>
            <a:ext cx="8503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b="1" i="0" lang="es-419" sz="8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▭ Recuadro: universo Tenpo (18-54 años, sin E Sub Bancarizado).  </a:t>
            </a: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Las celdas en tono suave quedan fuera del foco comercial, pero participaron en la segmentación.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9"/>
          <p:cNvSpPr/>
          <p:nvPr/>
        </p:nvSpPr>
        <p:spPr>
          <a:xfrm>
            <a:off x="0" y="0"/>
            <a:ext cx="9141714" cy="58293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9"/>
          <p:cNvSpPr txBox="1"/>
          <p:nvPr/>
        </p:nvSpPr>
        <p:spPr>
          <a:xfrm>
            <a:off x="377190" y="82296"/>
            <a:ext cx="83667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Características por perfil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7" name="Google Shape;357;p19"/>
          <p:cNvGraphicFramePr/>
          <p:nvPr/>
        </p:nvGraphicFramePr>
        <p:xfrm>
          <a:off x="377208" y="868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{E5518543-3278-49E4-A35A-03B551978FA5}</a:tableStyleId>
              </a:tblPr>
              <a:tblGrid>
                <a:gridCol w="343400"/>
                <a:gridCol w="1470000"/>
                <a:gridCol w="1480000"/>
                <a:gridCol w="1300000"/>
                <a:gridCol w="1480000"/>
                <a:gridCol w="1450000"/>
                <a:gridCol w="8433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8100" marB="38100" marR="57150" marL="57150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Perfil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crediticia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Clasificación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económico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Descripción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en universo Tenpo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E7E7E7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6B5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4CF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sólida · SB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a E SB · 45 y más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736 · Mora 7.6%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Buen pagador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$740k · Pat. $8.8M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medio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Adultos mayores sin banca, con score alto y mora baja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891B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17%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7F2F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P2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3B9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frágil · SB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a E SB · 30-44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579 · Mora 14.1%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bajo, mora creciente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$670k · Pat. $2.3M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 respaldo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Adultos jóvenes con mora creciente y bajo respaldo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891B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56%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P3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débil · B/SB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a E · 18-34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573 · Mora 26.5%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bajo, mora alta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67% bancarizado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Mixto B y SB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$850k · Pat. $2.7M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 respaldo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Jóvenes con mora alta y respaldo bajo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891B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94%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E5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P4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A9D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tensionada · B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a E B · 35 y más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706 · Mora 42.2%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medio, mora muy alta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 bancarizado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3.4% deuda comercial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$970k · Pat. $10.6M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medio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Adultos bancarizados con mora muy alta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891B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60%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4B2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P5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CDB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emergente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ABC1-C2 · 18-29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570 · Mora 5.3%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Poco historial, mora baja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48% bancarizado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Recién ingresando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$1.03M · Pat. $3.4M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emergente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Jóvenes ABC1-C2 con poco historial y mora baja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891B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F3A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P6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A8BC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 · B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ABC1-C2 B · 30 y más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760 · Mora 19.2%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alto, mora moderada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 bancarizado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10% deuda comercial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$1.97M · Pat. $91.1M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Adultos con alto respaldo y con mora moderada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891B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56%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5C4A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P7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D7C7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 · SB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30 y más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789 · Mora 9.5%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Mejor score del universo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$1.29M · Pat. $79.1M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Adultos con alto respaldo y mora baja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891B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29%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8" name="Google Shape;358;p19"/>
          <p:cNvSpPr txBox="1"/>
          <p:nvPr/>
        </p:nvSpPr>
        <p:spPr>
          <a:xfrm>
            <a:off x="374904" y="4233672"/>
            <a:ext cx="8366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Valores: promedio de todas las celdas de cada perfil, ponderado por personas (incluye mayores de 55). Color: dimensión que da nombre al perfil (rojo = salud, verde = respaldo). % en universo Tenpo: personas del perfil de 18-54 años, sin E Sub Bancarizado.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0"/>
          <p:cNvSpPr/>
          <p:nvPr/>
        </p:nvSpPr>
        <p:spPr>
          <a:xfrm>
            <a:off x="0" y="0"/>
            <a:ext cx="9141714" cy="58293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0"/>
          <p:cNvSpPr txBox="1"/>
          <p:nvPr/>
        </p:nvSpPr>
        <p:spPr>
          <a:xfrm>
            <a:off x="377190" y="82296"/>
            <a:ext cx="83667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Anexo · Detalle por celda (1/3): P1 y P2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5" name="Google Shape;365;p20"/>
          <p:cNvGraphicFramePr/>
          <p:nvPr/>
        </p:nvGraphicFramePr>
        <p:xfrm>
          <a:off x="374904" y="731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{E5518543-3278-49E4-A35A-03B551978FA5}</a:tableStyleId>
              </a:tblPr>
              <a:tblGrid>
                <a:gridCol w="1417325"/>
                <a:gridCol w="420625"/>
                <a:gridCol w="457200"/>
                <a:gridCol w="457200"/>
                <a:gridCol w="640075"/>
                <a:gridCol w="658375"/>
              </a:tblGrid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Celda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Mora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Com.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Patrimonio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6B5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 · Salud sólida · SB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4CF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6B5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736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4CF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6B5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7.6%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4CF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6B5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4CF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6B5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$740k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4CF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6B5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$8.8M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4CF88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SB · 45-49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697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9CE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16.6%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7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$910k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3D4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$13.3M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2CBFD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SB · 50-54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740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2B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9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$900k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AD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$15.0M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8C5FC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SB · 55-59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769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FA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EF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$920k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DD1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$17.6M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3C2FC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SB · 60+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4A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$1.03M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6C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$36.5M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AB4FB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SB · 45-49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682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AD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C8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$750k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2E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$7.6M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8D7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SB · 50-54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722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3C2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5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$740k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4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$8.7M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3D4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SB · 55-59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753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AB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13.6%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E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$760k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EEC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$10.1M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DD1FD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SB · 60+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797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6A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9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$850k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AE1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$20.0M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FC0FC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SB · 45-49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637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1E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2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$660k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$3.6M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0E4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SB · 50-54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1DC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14.3%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B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$660k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$3.8M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EE3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SB · 55-59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696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BCF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$680k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C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$4.2M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BE2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SB · 60+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0B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B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$720k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$6.8M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AD8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SB · 45-49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663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4D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$630k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3F9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SB · 50-54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686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3D4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7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$650k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$0.5M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2F8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SB · 55-59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705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2CB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A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$670k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$0.5M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FF6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SB · 60+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751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CB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C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$690k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9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$1.1M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5F0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6" name="Google Shape;366;p20"/>
          <p:cNvGraphicFramePr/>
          <p:nvPr/>
        </p:nvGraphicFramePr>
        <p:xfrm>
          <a:off x="4700016" y="731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{E5518543-3278-49E4-A35A-03B551978FA5}</a:tableStyleId>
              </a:tblPr>
              <a:tblGrid>
                <a:gridCol w="1417325"/>
                <a:gridCol w="420625"/>
                <a:gridCol w="457200"/>
                <a:gridCol w="457200"/>
                <a:gridCol w="640075"/>
                <a:gridCol w="658375"/>
              </a:tblGrid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Celda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Mora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Com.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Patrimonio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7F2F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P2 · Salud frágil · SB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3B9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7F2F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579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3B9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7F2F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3B9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7F2F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3B9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7F2F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$670k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3B9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7F2F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3B9B0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SB · 30-34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597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1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4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$1.08M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0C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$9.2M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1D3FD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SB · 35-39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EEC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A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$910k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1D3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$10.4M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BCFFD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SB · 40-44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651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BE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16.3%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8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$920k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FD2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$11.6M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9CEFD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SB · 30-34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576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9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EF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$850k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8E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7DF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SB · 35-39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591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4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D5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$760k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$5.6M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4DE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SB · 40-44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633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2E6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19.7%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C3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$750k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1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$6.5M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1DC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SB · 30-34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528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14.7%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A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$690k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$1.9M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BEB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SB · 35-39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545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2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D2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$660k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2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5E8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SB · 40-44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586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CD8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$660k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3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2E6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SB · 30-34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568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2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$600k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FC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SB · 35-39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587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$600k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F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8FB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SB · 40-44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620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A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3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$610k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F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6FAFF"/>
                    </a:solidFill>
                  </a:tcPr>
                </a:tc>
              </a:tr>
            </a:tbl>
          </a:graphicData>
        </a:graphic>
      </p:graphicFrame>
      <p:sp>
        <p:nvSpPr>
          <p:cNvPr id="367" name="Google Shape;367;p20"/>
          <p:cNvSpPr txBox="1"/>
          <p:nvPr/>
        </p:nvSpPr>
        <p:spPr>
          <a:xfrm>
            <a:off x="374904" y="4572000"/>
            <a:ext cx="8366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Fila de color: promedio del perfil (igual a la tabla de características). </a:t>
            </a:r>
            <a:r>
              <a:rPr b="0" i="0" lang="es-419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Tonos parecidos = valores parecidos (escala común a las 90 celdas). Celdas en gris: fuera del universo Tenpo, usadas en la segmentación. </a:t>
            </a:r>
            <a:r>
              <a:rPr b="1" i="0" lang="es-419" sz="7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◆ Celda de frontera: </a:t>
            </a:r>
            <a:r>
              <a:rPr b="0" i="0" lang="es-419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sus valores también se acercan al perfil indicado. En la frontera, la asignación consideró criterio de negocio para mantener bloques continuos de edad.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1"/>
          <p:cNvSpPr/>
          <p:nvPr/>
        </p:nvSpPr>
        <p:spPr>
          <a:xfrm>
            <a:off x="0" y="0"/>
            <a:ext cx="9141714" cy="58293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377190" y="82296"/>
            <a:ext cx="83667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Anexo · Detalle por celda (2/3): P3 y P4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4" name="Google Shape;374;p21"/>
          <p:cNvGraphicFramePr/>
          <p:nvPr/>
        </p:nvGraphicFramePr>
        <p:xfrm>
          <a:off x="374904" y="731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{E5518543-3278-49E4-A35A-03B551978FA5}</a:tableStyleId>
              </a:tblPr>
              <a:tblGrid>
                <a:gridCol w="1417325"/>
                <a:gridCol w="420625"/>
                <a:gridCol w="457200"/>
                <a:gridCol w="457200"/>
                <a:gridCol w="640075"/>
                <a:gridCol w="658375"/>
              </a:tblGrid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Celda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Mora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Com.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Patrimonio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P3 · Salud débil · B/SB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573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$850k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DD7E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B · 18-24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463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DA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D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$830k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DE3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$0.9M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BF4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B · 25-29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632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4E7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20.7%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C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D08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$950k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BCF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$4.6M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AE1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B · 30-34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677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ED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B3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1.9%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B8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$1.14M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3C2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$11.9M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6CDFD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B · 18-24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446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BD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DA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$810k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7E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CF4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B · 25-29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594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2E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9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D5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$830k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BE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8E9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B · 30-34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EE3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43.8%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93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C3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$900k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ED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DE3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B · 18-24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434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B0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DD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$790k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A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$0.5M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1F7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B · 25-29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562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C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62.3%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7E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D8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$760k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CEC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EF5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B · 30-34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615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CEC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879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D2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$780k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BEB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F1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SB · 18-24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P5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545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3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2.3%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$700k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FD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SB · 25-29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606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4.3%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$900k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CD9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AEA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SB · 18-24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511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$610k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E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SB · 25-29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561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6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$710k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8F2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SB · 18-24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508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9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$580k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SB · 25-29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553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11.7%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0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$600k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FD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5" name="Google Shape;375;p21"/>
          <p:cNvGraphicFramePr/>
          <p:nvPr/>
        </p:nvGraphicFramePr>
        <p:xfrm>
          <a:off x="4700016" y="731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{E5518543-3278-49E4-A35A-03B551978FA5}</a:tableStyleId>
              </a:tblPr>
              <a:tblGrid>
                <a:gridCol w="1417325"/>
                <a:gridCol w="420625"/>
                <a:gridCol w="457200"/>
                <a:gridCol w="457200"/>
                <a:gridCol w="640075"/>
                <a:gridCol w="658375"/>
              </a:tblGrid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Celda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Mora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Com.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Patrimonio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E5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P4 · Salud tensionada · B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9D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E5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706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9D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E5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9D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E5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9D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E5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$970k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9D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E5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$10.6M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9D6CC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B · 35-39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CD9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A0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A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$1.16M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BBD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$13.1M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4CCFD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B · 40-44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688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1D3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96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9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$1.13M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5C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$14.2M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EC8FD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B · 45-49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707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0C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98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4.9%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96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$1.10M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EC8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$14.8M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AC6FC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B · 50-54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715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8C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38.2%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9B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91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$1.05M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2CB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$14.6M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CC7FD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B · 55-59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732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BBD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34.4%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A3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8E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$1.02M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9CE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$15.2M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5C3FC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B · 60+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753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5B1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B8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93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$1.04M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4C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$20.1M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DBEFC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B · 35-39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646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DE3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52.1%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897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1.6%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BD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$910k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5D6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$4.8M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8E0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B · 40-44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658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AE1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86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2.3%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B0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$900k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8D7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$5.9M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3DD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B · 45-49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684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5D6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8B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2.7%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AD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$890k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0DB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$6.5M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0DB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B · 50-54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694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DD1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47.9%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8E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A6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$870k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3D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$6.6M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EDA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B · 55-59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710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EC8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91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A0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$870k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4D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$6.8M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CD9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B · 60+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734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9B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A6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2.9%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A8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$880k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1DC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$9.3M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FD2FD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B · 35-39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625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8E9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67.7%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871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CD8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$810k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4E7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4F0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B · 40-44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640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0E4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874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C58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$820k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0E4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1EE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B · 45-49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7D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64.9%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876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C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$820k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1E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FED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B · 50-54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3D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63.0%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8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1.7%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BB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$820k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2E6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EEC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B · 55-59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688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FD2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62.2%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81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2.3%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B3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$810k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5E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$1.8M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CEC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B · 60+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718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5C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57.4%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83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B5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$810k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8E9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4E7FE"/>
                    </a:solidFill>
                  </a:tcPr>
                </a:tc>
              </a:tr>
            </a:tbl>
          </a:graphicData>
        </a:graphic>
      </p:graphicFrame>
      <p:sp>
        <p:nvSpPr>
          <p:cNvPr id="376" name="Google Shape;376;p21"/>
          <p:cNvSpPr txBox="1"/>
          <p:nvPr/>
        </p:nvSpPr>
        <p:spPr>
          <a:xfrm>
            <a:off x="374904" y="4572000"/>
            <a:ext cx="8366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Fila de color: promedio del perfil (igual a la tabla de características). </a:t>
            </a:r>
            <a:r>
              <a:rPr b="0" i="0" lang="es-419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Tonos parecidos = valores parecidos (escala común a las 90 celdas). Celdas en gris: fuera del universo Tenpo, usadas en la segmentación. </a:t>
            </a:r>
            <a:r>
              <a:rPr b="1" i="0" lang="es-419" sz="7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◆ Celda de frontera: </a:t>
            </a:r>
            <a:r>
              <a:rPr b="0" i="0" lang="es-419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sus valores también se acercan al perfil indicado. En la frontera, la asignación consideró criterio de negocio para mantener bloques continuos de edad.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2"/>
          <p:cNvSpPr/>
          <p:nvPr/>
        </p:nvSpPr>
        <p:spPr>
          <a:xfrm>
            <a:off x="0" y="0"/>
            <a:ext cx="9141714" cy="58293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2"/>
          <p:cNvSpPr txBox="1"/>
          <p:nvPr/>
        </p:nvSpPr>
        <p:spPr>
          <a:xfrm>
            <a:off x="377190" y="82296"/>
            <a:ext cx="83667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Anexo · Detalle por celda (3/3): P5, P6 y P7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3" name="Google Shape;383;p22"/>
          <p:cNvGraphicFramePr/>
          <p:nvPr/>
        </p:nvGraphicFramePr>
        <p:xfrm>
          <a:off x="374904" y="731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{E5518543-3278-49E4-A35A-03B551978FA5}</a:tableStyleId>
              </a:tblPr>
              <a:tblGrid>
                <a:gridCol w="1417325"/>
                <a:gridCol w="420625"/>
                <a:gridCol w="457200"/>
                <a:gridCol w="457200"/>
                <a:gridCol w="640075"/>
                <a:gridCol w="658375"/>
              </a:tblGrid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Celda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Mora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Com.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Patrimonio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4B2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P5 · Respaldo emergente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DB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4B2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570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DB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4B2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5.3%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DB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4B2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DB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4B2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$1.03M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DB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4B2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$3.4M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DBBE3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B · 18-24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P3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463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F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5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2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$860k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5D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7E8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B · 25-29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682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8D7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7.7%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5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CA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$1.21M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4B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$14.0M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0C9FD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B · 18-24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P3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475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F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EE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5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$860k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7D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2EF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B · 25-29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5D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ED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C8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$1.10M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AC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$8.4M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5D6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18-24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581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$1.15M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1C1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9F3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25-29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659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8E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$1.41M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AB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$5.4M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5DF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SB · 18-24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562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$820k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EE3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5F9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SB · 25-29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628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5E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$1.16M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DB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$3.2M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1E5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5C4A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P7 · Alto respaldo · SB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7C7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5C4A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789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7C7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5C4A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7C7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5C4A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7C7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5C4A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$1.29M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7C7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5C4A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$79.1M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7C7A1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30-34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P5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618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BEB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6.7%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7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$1.43M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7B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$19.8M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1C1FC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35-39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627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7E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13.9%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B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$1.10M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CC7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$28.9M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4BAFC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40-44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670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0DB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16.3%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7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$1.12M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8C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$31.3M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0B7FB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45-49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713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AC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D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$1.16M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FC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$37.3M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5B1FB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50-54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755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3B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9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$1.17M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9B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$40.7M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3B0FB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55-59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785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9A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EE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$1.20M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$48.9M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1AFFB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60+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829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8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$1.37M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EB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$107.0M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BAB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4" name="Google Shape;384;p22"/>
          <p:cNvGraphicFramePr/>
          <p:nvPr/>
        </p:nvGraphicFramePr>
        <p:xfrm>
          <a:off x="4700016" y="731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{E5518543-3278-49E4-A35A-03B551978FA5}</a:tableStyleId>
              </a:tblPr>
              <a:tblGrid>
                <a:gridCol w="1417325"/>
                <a:gridCol w="420625"/>
                <a:gridCol w="457200"/>
                <a:gridCol w="457200"/>
                <a:gridCol w="640075"/>
                <a:gridCol w="658375"/>
              </a:tblGrid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Celda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Mora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Com.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Patrimonio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F3A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P6 · Alto respaldo · B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8BC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F3A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760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8BC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F3A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8BC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F3A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8BC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F3A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$1.97M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8BC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F3A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$91.1M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8BCE0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B · 30-34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731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DB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3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98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$2.01M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DAC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$59.9M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FADFB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B · 35-39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728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FC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13.6%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CA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83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$2.43M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6A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$91.8M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DACFB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B · 40-44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738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4B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16.6%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68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879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$2.53M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2A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$111.3M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9AAFA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B · 45-49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753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7B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D08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15.3%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876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$2.53M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$123.7M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6A9FA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B · 50-54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760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1A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18.6%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CA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15.9%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871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$2.44M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4A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$129.0M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4A7FA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B · 55-59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780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BAB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DD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874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$2.36M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9A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$134.2M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2A6FA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B · 60+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816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2A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0B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8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$2.27M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BAB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$172.1M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0A5FA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B · 30-34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P5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700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6C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17.6%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D8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A3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$1.52M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3B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$27.4M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BBDFC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B · 35-39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701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4C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BB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9B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$1.61M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FA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$31.7M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CB5FB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B · 40-44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711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CC7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AD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6.6%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8B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$1.57M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1A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$31.4M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EB6FB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B · 45-49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726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1C1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30.7%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A8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86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$1.49M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5B1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$30.4M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2B8FB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B · 50-54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734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A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81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$1.39M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CB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$28.8M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6BBFC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B · 55-59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751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EB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B5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8.6%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7E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$1.32M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0B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$28.7M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9BCFC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B · 60+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775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DAC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C58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897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$1.31M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2B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$37.0M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7B2FB"/>
                    </a:solidFill>
                  </a:tcPr>
                </a:tc>
              </a:tr>
            </a:tbl>
          </a:graphicData>
        </a:graphic>
      </p:graphicFrame>
      <p:sp>
        <p:nvSpPr>
          <p:cNvPr id="385" name="Google Shape;385;p22"/>
          <p:cNvSpPr txBox="1"/>
          <p:nvPr/>
        </p:nvSpPr>
        <p:spPr>
          <a:xfrm>
            <a:off x="374904" y="4572000"/>
            <a:ext cx="8366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Fila de color: promedio del perfil (igual a la tabla de características). </a:t>
            </a:r>
            <a:r>
              <a:rPr b="0" i="0" lang="es-419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Tonos parecidos = valores parecidos (escala común a las 90 celdas). Celdas en gris: fuera del universo Tenpo, usadas en la segmentación. </a:t>
            </a:r>
            <a:r>
              <a:rPr b="1" i="0" lang="es-419" sz="7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◆ Celda de frontera: </a:t>
            </a:r>
            <a:r>
              <a:rPr b="0" i="0" lang="es-419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sus valores también se acercan al perfil indicado. En la frontera, la asignación consideró criterio de negocio para mantener bloques continuos de edad.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3"/>
          <p:cNvSpPr/>
          <p:nvPr/>
        </p:nvSpPr>
        <p:spPr>
          <a:xfrm>
            <a:off x="0" y="0"/>
            <a:ext cx="9141600" cy="58290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3"/>
          <p:cNvSpPr txBox="1"/>
          <p:nvPr/>
        </p:nvSpPr>
        <p:spPr>
          <a:xfrm>
            <a:off x="377190" y="129449"/>
            <a:ext cx="83667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es-419" sz="1800">
                <a:solidFill>
                  <a:srgbClr val="0F172A"/>
                </a:solidFill>
              </a:rPr>
              <a:t>Trade - Off: experiencia/accionabilidad y homogeneidad de riesgo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3"/>
          <p:cNvSpPr txBox="1"/>
          <p:nvPr/>
        </p:nvSpPr>
        <p:spPr>
          <a:xfrm>
            <a:off x="388615" y="4828032"/>
            <a:ext cx="83667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Reconstrucción: cada celda asignada al perfil cuyo promedio está más cerca en sus 6 variables financieras y edad (estandarizadas). A validar con el modelo del analista.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3"/>
          <p:cNvSpPr txBox="1"/>
          <p:nvPr/>
        </p:nvSpPr>
        <p:spPr>
          <a:xfrm>
            <a:off x="841248" y="731520"/>
            <a:ext cx="3785616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Sub Bancarizado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3"/>
          <p:cNvSpPr txBox="1"/>
          <p:nvPr/>
        </p:nvSpPr>
        <p:spPr>
          <a:xfrm>
            <a:off x="841248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3"/>
          <p:cNvSpPr txBox="1"/>
          <p:nvPr/>
        </p:nvSpPr>
        <p:spPr>
          <a:xfrm>
            <a:off x="1609344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3"/>
          <p:cNvSpPr txBox="1"/>
          <p:nvPr/>
        </p:nvSpPr>
        <p:spPr>
          <a:xfrm>
            <a:off x="2377440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C3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3"/>
          <p:cNvSpPr txBox="1"/>
          <p:nvPr/>
        </p:nvSpPr>
        <p:spPr>
          <a:xfrm>
            <a:off x="3145536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C2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3"/>
          <p:cNvSpPr txBox="1"/>
          <p:nvPr/>
        </p:nvSpPr>
        <p:spPr>
          <a:xfrm>
            <a:off x="3913632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ABC1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3"/>
          <p:cNvSpPr txBox="1"/>
          <p:nvPr/>
        </p:nvSpPr>
        <p:spPr>
          <a:xfrm>
            <a:off x="4937760" y="731520"/>
            <a:ext cx="3785616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Bancarizado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3"/>
          <p:cNvSpPr txBox="1"/>
          <p:nvPr/>
        </p:nvSpPr>
        <p:spPr>
          <a:xfrm>
            <a:off x="4937760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3"/>
          <p:cNvSpPr txBox="1"/>
          <p:nvPr/>
        </p:nvSpPr>
        <p:spPr>
          <a:xfrm>
            <a:off x="5705856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3"/>
          <p:cNvSpPr txBox="1"/>
          <p:nvPr/>
        </p:nvSpPr>
        <p:spPr>
          <a:xfrm>
            <a:off x="6473952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C3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3"/>
          <p:cNvSpPr txBox="1"/>
          <p:nvPr/>
        </p:nvSpPr>
        <p:spPr>
          <a:xfrm>
            <a:off x="7242048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C2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3"/>
          <p:cNvSpPr txBox="1"/>
          <p:nvPr/>
        </p:nvSpPr>
        <p:spPr>
          <a:xfrm>
            <a:off x="8010144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ABC1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3"/>
          <p:cNvSpPr txBox="1"/>
          <p:nvPr/>
        </p:nvSpPr>
        <p:spPr>
          <a:xfrm>
            <a:off x="274320" y="905256"/>
            <a:ext cx="50292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Edad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3"/>
          <p:cNvSpPr txBox="1"/>
          <p:nvPr/>
        </p:nvSpPr>
        <p:spPr>
          <a:xfrm>
            <a:off x="274320" y="1078992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18-24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841248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>
              <a:alpha val="40000"/>
            </a:srgbClr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3"/>
          <p:cNvSpPr txBox="1"/>
          <p:nvPr/>
        </p:nvSpPr>
        <p:spPr>
          <a:xfrm>
            <a:off x="841248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3"/>
          <p:cNvSpPr/>
          <p:nvPr/>
        </p:nvSpPr>
        <p:spPr>
          <a:xfrm>
            <a:off x="1609344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3"/>
          <p:cNvSpPr txBox="1"/>
          <p:nvPr/>
        </p:nvSpPr>
        <p:spPr>
          <a:xfrm>
            <a:off x="1609344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3"/>
          <p:cNvSpPr/>
          <p:nvPr/>
        </p:nvSpPr>
        <p:spPr>
          <a:xfrm>
            <a:off x="2377440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3"/>
          <p:cNvSpPr txBox="1"/>
          <p:nvPr/>
        </p:nvSpPr>
        <p:spPr>
          <a:xfrm>
            <a:off x="2377440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3"/>
          <p:cNvSpPr/>
          <p:nvPr/>
        </p:nvSpPr>
        <p:spPr>
          <a:xfrm>
            <a:off x="3145536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3"/>
          <p:cNvSpPr txBox="1"/>
          <p:nvPr/>
        </p:nvSpPr>
        <p:spPr>
          <a:xfrm>
            <a:off x="3145536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3"/>
          <p:cNvSpPr/>
          <p:nvPr/>
        </p:nvSpPr>
        <p:spPr>
          <a:xfrm>
            <a:off x="3913632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3"/>
          <p:cNvSpPr txBox="1"/>
          <p:nvPr/>
        </p:nvSpPr>
        <p:spPr>
          <a:xfrm>
            <a:off x="3913632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3"/>
          <p:cNvSpPr/>
          <p:nvPr/>
        </p:nvSpPr>
        <p:spPr>
          <a:xfrm>
            <a:off x="4937760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3"/>
          <p:cNvSpPr txBox="1"/>
          <p:nvPr/>
        </p:nvSpPr>
        <p:spPr>
          <a:xfrm>
            <a:off x="4937760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3"/>
          <p:cNvSpPr/>
          <p:nvPr/>
        </p:nvSpPr>
        <p:spPr>
          <a:xfrm>
            <a:off x="5705856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5705856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3"/>
          <p:cNvSpPr/>
          <p:nvPr/>
        </p:nvSpPr>
        <p:spPr>
          <a:xfrm>
            <a:off x="6473952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6473952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3"/>
          <p:cNvSpPr/>
          <p:nvPr/>
        </p:nvSpPr>
        <p:spPr>
          <a:xfrm>
            <a:off x="7242048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242048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3"/>
          <p:cNvSpPr/>
          <p:nvPr/>
        </p:nvSpPr>
        <p:spPr>
          <a:xfrm>
            <a:off x="8010144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8010144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274320" y="1344168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25-29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3"/>
          <p:cNvSpPr/>
          <p:nvPr/>
        </p:nvSpPr>
        <p:spPr>
          <a:xfrm>
            <a:off x="841248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>
              <a:alpha val="40000"/>
            </a:srgbClr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841248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3"/>
          <p:cNvSpPr/>
          <p:nvPr/>
        </p:nvSpPr>
        <p:spPr>
          <a:xfrm>
            <a:off x="1609344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1609344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3"/>
          <p:cNvSpPr/>
          <p:nvPr/>
        </p:nvSpPr>
        <p:spPr>
          <a:xfrm>
            <a:off x="2377440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3"/>
          <p:cNvSpPr txBox="1"/>
          <p:nvPr/>
        </p:nvSpPr>
        <p:spPr>
          <a:xfrm>
            <a:off x="2377440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3"/>
          <p:cNvSpPr/>
          <p:nvPr/>
        </p:nvSpPr>
        <p:spPr>
          <a:xfrm>
            <a:off x="3145536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3"/>
          <p:cNvSpPr txBox="1"/>
          <p:nvPr/>
        </p:nvSpPr>
        <p:spPr>
          <a:xfrm>
            <a:off x="3145536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3"/>
          <p:cNvSpPr/>
          <p:nvPr/>
        </p:nvSpPr>
        <p:spPr>
          <a:xfrm>
            <a:off x="3913632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3"/>
          <p:cNvSpPr txBox="1"/>
          <p:nvPr/>
        </p:nvSpPr>
        <p:spPr>
          <a:xfrm>
            <a:off x="3913632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3"/>
          <p:cNvSpPr/>
          <p:nvPr/>
        </p:nvSpPr>
        <p:spPr>
          <a:xfrm>
            <a:off x="4937760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3"/>
          <p:cNvSpPr txBox="1"/>
          <p:nvPr/>
        </p:nvSpPr>
        <p:spPr>
          <a:xfrm>
            <a:off x="4937760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5705856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3"/>
          <p:cNvSpPr txBox="1"/>
          <p:nvPr/>
        </p:nvSpPr>
        <p:spPr>
          <a:xfrm>
            <a:off x="5705856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3"/>
          <p:cNvSpPr/>
          <p:nvPr/>
        </p:nvSpPr>
        <p:spPr>
          <a:xfrm>
            <a:off x="6473952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3"/>
          <p:cNvSpPr txBox="1"/>
          <p:nvPr/>
        </p:nvSpPr>
        <p:spPr>
          <a:xfrm>
            <a:off x="6473952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3"/>
          <p:cNvSpPr/>
          <p:nvPr/>
        </p:nvSpPr>
        <p:spPr>
          <a:xfrm>
            <a:off x="7242048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3"/>
          <p:cNvSpPr txBox="1"/>
          <p:nvPr/>
        </p:nvSpPr>
        <p:spPr>
          <a:xfrm>
            <a:off x="7242048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3"/>
          <p:cNvSpPr/>
          <p:nvPr/>
        </p:nvSpPr>
        <p:spPr>
          <a:xfrm>
            <a:off x="8010144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3"/>
          <p:cNvSpPr txBox="1"/>
          <p:nvPr/>
        </p:nvSpPr>
        <p:spPr>
          <a:xfrm>
            <a:off x="8010144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3"/>
          <p:cNvSpPr txBox="1"/>
          <p:nvPr/>
        </p:nvSpPr>
        <p:spPr>
          <a:xfrm>
            <a:off x="274320" y="1609343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30-34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3"/>
          <p:cNvSpPr/>
          <p:nvPr/>
        </p:nvSpPr>
        <p:spPr>
          <a:xfrm>
            <a:off x="841248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>
              <a:alpha val="40000"/>
            </a:srgbClr>
          </a:solidFill>
          <a:ln cap="flat" cmpd="sng" w="12700">
            <a:solidFill>
              <a:srgbClr val="F3B9B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3"/>
          <p:cNvSpPr txBox="1"/>
          <p:nvPr/>
        </p:nvSpPr>
        <p:spPr>
          <a:xfrm>
            <a:off x="841248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3"/>
          <p:cNvSpPr/>
          <p:nvPr/>
        </p:nvSpPr>
        <p:spPr>
          <a:xfrm>
            <a:off x="1609344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3"/>
          <p:cNvSpPr txBox="1"/>
          <p:nvPr/>
        </p:nvSpPr>
        <p:spPr>
          <a:xfrm>
            <a:off x="1609344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3"/>
          <p:cNvSpPr/>
          <p:nvPr/>
        </p:nvSpPr>
        <p:spPr>
          <a:xfrm>
            <a:off x="2377440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3"/>
          <p:cNvSpPr txBox="1"/>
          <p:nvPr/>
        </p:nvSpPr>
        <p:spPr>
          <a:xfrm>
            <a:off x="2377440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3"/>
          <p:cNvSpPr/>
          <p:nvPr/>
        </p:nvSpPr>
        <p:spPr>
          <a:xfrm>
            <a:off x="3145536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3"/>
          <p:cNvSpPr txBox="1"/>
          <p:nvPr/>
        </p:nvSpPr>
        <p:spPr>
          <a:xfrm>
            <a:off x="3145536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3"/>
          <p:cNvSpPr/>
          <p:nvPr/>
        </p:nvSpPr>
        <p:spPr>
          <a:xfrm>
            <a:off x="3913632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3"/>
          <p:cNvSpPr txBox="1"/>
          <p:nvPr/>
        </p:nvSpPr>
        <p:spPr>
          <a:xfrm>
            <a:off x="3913632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3"/>
          <p:cNvSpPr/>
          <p:nvPr/>
        </p:nvSpPr>
        <p:spPr>
          <a:xfrm>
            <a:off x="4937760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3"/>
          <p:cNvSpPr txBox="1"/>
          <p:nvPr/>
        </p:nvSpPr>
        <p:spPr>
          <a:xfrm>
            <a:off x="4937760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3"/>
          <p:cNvSpPr/>
          <p:nvPr/>
        </p:nvSpPr>
        <p:spPr>
          <a:xfrm>
            <a:off x="5705856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3"/>
          <p:cNvSpPr txBox="1"/>
          <p:nvPr/>
        </p:nvSpPr>
        <p:spPr>
          <a:xfrm>
            <a:off x="5705856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3"/>
          <p:cNvSpPr/>
          <p:nvPr/>
        </p:nvSpPr>
        <p:spPr>
          <a:xfrm>
            <a:off x="6473952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3"/>
          <p:cNvSpPr txBox="1"/>
          <p:nvPr/>
        </p:nvSpPr>
        <p:spPr>
          <a:xfrm>
            <a:off x="6473952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3"/>
          <p:cNvSpPr/>
          <p:nvPr/>
        </p:nvSpPr>
        <p:spPr>
          <a:xfrm>
            <a:off x="7242048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3"/>
          <p:cNvSpPr txBox="1"/>
          <p:nvPr/>
        </p:nvSpPr>
        <p:spPr>
          <a:xfrm>
            <a:off x="7242048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3"/>
          <p:cNvSpPr/>
          <p:nvPr/>
        </p:nvSpPr>
        <p:spPr>
          <a:xfrm>
            <a:off x="8010144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3"/>
          <p:cNvSpPr txBox="1"/>
          <p:nvPr/>
        </p:nvSpPr>
        <p:spPr>
          <a:xfrm>
            <a:off x="8010144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3"/>
          <p:cNvSpPr txBox="1"/>
          <p:nvPr/>
        </p:nvSpPr>
        <p:spPr>
          <a:xfrm>
            <a:off x="274320" y="1874519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35-39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3"/>
          <p:cNvSpPr/>
          <p:nvPr/>
        </p:nvSpPr>
        <p:spPr>
          <a:xfrm>
            <a:off x="841248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>
              <a:alpha val="40000"/>
            </a:srgbClr>
          </a:solidFill>
          <a:ln cap="flat" cmpd="sng" w="12700">
            <a:solidFill>
              <a:srgbClr val="F3B9B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3"/>
          <p:cNvSpPr txBox="1"/>
          <p:nvPr/>
        </p:nvSpPr>
        <p:spPr>
          <a:xfrm>
            <a:off x="841248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3"/>
          <p:cNvSpPr/>
          <p:nvPr/>
        </p:nvSpPr>
        <p:spPr>
          <a:xfrm>
            <a:off x="1609344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3"/>
          <p:cNvSpPr txBox="1"/>
          <p:nvPr/>
        </p:nvSpPr>
        <p:spPr>
          <a:xfrm>
            <a:off x="1609344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3"/>
          <p:cNvSpPr/>
          <p:nvPr/>
        </p:nvSpPr>
        <p:spPr>
          <a:xfrm>
            <a:off x="2377440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3"/>
          <p:cNvSpPr txBox="1"/>
          <p:nvPr/>
        </p:nvSpPr>
        <p:spPr>
          <a:xfrm>
            <a:off x="2377440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3"/>
          <p:cNvSpPr/>
          <p:nvPr/>
        </p:nvSpPr>
        <p:spPr>
          <a:xfrm>
            <a:off x="3145536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3"/>
          <p:cNvSpPr txBox="1"/>
          <p:nvPr/>
        </p:nvSpPr>
        <p:spPr>
          <a:xfrm>
            <a:off x="3145536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3"/>
          <p:cNvSpPr/>
          <p:nvPr/>
        </p:nvSpPr>
        <p:spPr>
          <a:xfrm>
            <a:off x="3913632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3"/>
          <p:cNvSpPr txBox="1"/>
          <p:nvPr/>
        </p:nvSpPr>
        <p:spPr>
          <a:xfrm>
            <a:off x="3913632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3"/>
          <p:cNvSpPr/>
          <p:nvPr/>
        </p:nvSpPr>
        <p:spPr>
          <a:xfrm>
            <a:off x="4937760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3"/>
          <p:cNvSpPr txBox="1"/>
          <p:nvPr/>
        </p:nvSpPr>
        <p:spPr>
          <a:xfrm>
            <a:off x="4937760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3"/>
          <p:cNvSpPr/>
          <p:nvPr/>
        </p:nvSpPr>
        <p:spPr>
          <a:xfrm>
            <a:off x="5705856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3"/>
          <p:cNvSpPr txBox="1"/>
          <p:nvPr/>
        </p:nvSpPr>
        <p:spPr>
          <a:xfrm>
            <a:off x="5705856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3"/>
          <p:cNvSpPr/>
          <p:nvPr/>
        </p:nvSpPr>
        <p:spPr>
          <a:xfrm>
            <a:off x="6473952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3"/>
          <p:cNvSpPr txBox="1"/>
          <p:nvPr/>
        </p:nvSpPr>
        <p:spPr>
          <a:xfrm>
            <a:off x="6473952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3"/>
          <p:cNvSpPr/>
          <p:nvPr/>
        </p:nvSpPr>
        <p:spPr>
          <a:xfrm>
            <a:off x="7242048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3"/>
          <p:cNvSpPr txBox="1"/>
          <p:nvPr/>
        </p:nvSpPr>
        <p:spPr>
          <a:xfrm>
            <a:off x="7242048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3"/>
          <p:cNvSpPr/>
          <p:nvPr/>
        </p:nvSpPr>
        <p:spPr>
          <a:xfrm>
            <a:off x="8010144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3"/>
          <p:cNvSpPr txBox="1"/>
          <p:nvPr/>
        </p:nvSpPr>
        <p:spPr>
          <a:xfrm>
            <a:off x="8010144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3"/>
          <p:cNvSpPr txBox="1"/>
          <p:nvPr/>
        </p:nvSpPr>
        <p:spPr>
          <a:xfrm>
            <a:off x="274320" y="2139696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40-44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3"/>
          <p:cNvSpPr/>
          <p:nvPr/>
        </p:nvSpPr>
        <p:spPr>
          <a:xfrm>
            <a:off x="841248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>
              <a:alpha val="40000"/>
            </a:srgbClr>
          </a:solidFill>
          <a:ln cap="flat" cmpd="sng" w="12700">
            <a:solidFill>
              <a:srgbClr val="F3B9B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3"/>
          <p:cNvSpPr txBox="1"/>
          <p:nvPr/>
        </p:nvSpPr>
        <p:spPr>
          <a:xfrm>
            <a:off x="841248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3"/>
          <p:cNvSpPr/>
          <p:nvPr/>
        </p:nvSpPr>
        <p:spPr>
          <a:xfrm>
            <a:off x="1609344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3"/>
          <p:cNvSpPr txBox="1"/>
          <p:nvPr/>
        </p:nvSpPr>
        <p:spPr>
          <a:xfrm>
            <a:off x="1609344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3"/>
          <p:cNvSpPr/>
          <p:nvPr/>
        </p:nvSpPr>
        <p:spPr>
          <a:xfrm>
            <a:off x="2377440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3"/>
          <p:cNvSpPr txBox="1"/>
          <p:nvPr/>
        </p:nvSpPr>
        <p:spPr>
          <a:xfrm>
            <a:off x="2377440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3"/>
          <p:cNvSpPr/>
          <p:nvPr/>
        </p:nvSpPr>
        <p:spPr>
          <a:xfrm>
            <a:off x="3145536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3"/>
          <p:cNvSpPr txBox="1"/>
          <p:nvPr/>
        </p:nvSpPr>
        <p:spPr>
          <a:xfrm>
            <a:off x="3145536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3"/>
          <p:cNvSpPr/>
          <p:nvPr/>
        </p:nvSpPr>
        <p:spPr>
          <a:xfrm>
            <a:off x="3913632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3"/>
          <p:cNvSpPr txBox="1"/>
          <p:nvPr/>
        </p:nvSpPr>
        <p:spPr>
          <a:xfrm>
            <a:off x="3913632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3"/>
          <p:cNvSpPr/>
          <p:nvPr/>
        </p:nvSpPr>
        <p:spPr>
          <a:xfrm>
            <a:off x="4937760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3"/>
          <p:cNvSpPr txBox="1"/>
          <p:nvPr/>
        </p:nvSpPr>
        <p:spPr>
          <a:xfrm>
            <a:off x="4937760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3"/>
          <p:cNvSpPr/>
          <p:nvPr/>
        </p:nvSpPr>
        <p:spPr>
          <a:xfrm>
            <a:off x="5705856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3"/>
          <p:cNvSpPr txBox="1"/>
          <p:nvPr/>
        </p:nvSpPr>
        <p:spPr>
          <a:xfrm>
            <a:off x="5705856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3"/>
          <p:cNvSpPr/>
          <p:nvPr/>
        </p:nvSpPr>
        <p:spPr>
          <a:xfrm>
            <a:off x="6473952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3"/>
          <p:cNvSpPr txBox="1"/>
          <p:nvPr/>
        </p:nvSpPr>
        <p:spPr>
          <a:xfrm>
            <a:off x="6473952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3"/>
          <p:cNvSpPr/>
          <p:nvPr/>
        </p:nvSpPr>
        <p:spPr>
          <a:xfrm>
            <a:off x="7242048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3"/>
          <p:cNvSpPr txBox="1"/>
          <p:nvPr/>
        </p:nvSpPr>
        <p:spPr>
          <a:xfrm>
            <a:off x="7242048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3"/>
          <p:cNvSpPr/>
          <p:nvPr/>
        </p:nvSpPr>
        <p:spPr>
          <a:xfrm>
            <a:off x="8010144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3"/>
          <p:cNvSpPr txBox="1"/>
          <p:nvPr/>
        </p:nvSpPr>
        <p:spPr>
          <a:xfrm>
            <a:off x="8010144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3"/>
          <p:cNvSpPr txBox="1"/>
          <p:nvPr/>
        </p:nvSpPr>
        <p:spPr>
          <a:xfrm>
            <a:off x="274320" y="2404872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45-49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3"/>
          <p:cNvSpPr/>
          <p:nvPr/>
        </p:nvSpPr>
        <p:spPr>
          <a:xfrm>
            <a:off x="841248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3"/>
          <p:cNvSpPr txBox="1"/>
          <p:nvPr/>
        </p:nvSpPr>
        <p:spPr>
          <a:xfrm>
            <a:off x="841248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3"/>
          <p:cNvSpPr/>
          <p:nvPr/>
        </p:nvSpPr>
        <p:spPr>
          <a:xfrm>
            <a:off x="1609344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3"/>
          <p:cNvSpPr txBox="1"/>
          <p:nvPr/>
        </p:nvSpPr>
        <p:spPr>
          <a:xfrm>
            <a:off x="1609344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3"/>
          <p:cNvSpPr/>
          <p:nvPr/>
        </p:nvSpPr>
        <p:spPr>
          <a:xfrm>
            <a:off x="2377440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3"/>
          <p:cNvSpPr txBox="1"/>
          <p:nvPr/>
        </p:nvSpPr>
        <p:spPr>
          <a:xfrm>
            <a:off x="2377440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3"/>
          <p:cNvSpPr/>
          <p:nvPr/>
        </p:nvSpPr>
        <p:spPr>
          <a:xfrm>
            <a:off x="3145536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3"/>
          <p:cNvSpPr txBox="1"/>
          <p:nvPr/>
        </p:nvSpPr>
        <p:spPr>
          <a:xfrm>
            <a:off x="3145536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3"/>
          <p:cNvSpPr/>
          <p:nvPr/>
        </p:nvSpPr>
        <p:spPr>
          <a:xfrm>
            <a:off x="3913632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3"/>
          <p:cNvSpPr txBox="1"/>
          <p:nvPr/>
        </p:nvSpPr>
        <p:spPr>
          <a:xfrm>
            <a:off x="3913632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3"/>
          <p:cNvSpPr/>
          <p:nvPr/>
        </p:nvSpPr>
        <p:spPr>
          <a:xfrm>
            <a:off x="4937760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3"/>
          <p:cNvSpPr txBox="1"/>
          <p:nvPr/>
        </p:nvSpPr>
        <p:spPr>
          <a:xfrm>
            <a:off x="4937760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3"/>
          <p:cNvSpPr/>
          <p:nvPr/>
        </p:nvSpPr>
        <p:spPr>
          <a:xfrm>
            <a:off x="5705856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3"/>
          <p:cNvSpPr txBox="1"/>
          <p:nvPr/>
        </p:nvSpPr>
        <p:spPr>
          <a:xfrm>
            <a:off x="5705856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3"/>
          <p:cNvSpPr/>
          <p:nvPr/>
        </p:nvSpPr>
        <p:spPr>
          <a:xfrm>
            <a:off x="6473952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3"/>
          <p:cNvSpPr txBox="1"/>
          <p:nvPr/>
        </p:nvSpPr>
        <p:spPr>
          <a:xfrm>
            <a:off x="6473952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3"/>
          <p:cNvSpPr/>
          <p:nvPr/>
        </p:nvSpPr>
        <p:spPr>
          <a:xfrm>
            <a:off x="7242048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3"/>
          <p:cNvSpPr txBox="1"/>
          <p:nvPr/>
        </p:nvSpPr>
        <p:spPr>
          <a:xfrm>
            <a:off x="7242048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3"/>
          <p:cNvSpPr/>
          <p:nvPr/>
        </p:nvSpPr>
        <p:spPr>
          <a:xfrm>
            <a:off x="8010144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3"/>
          <p:cNvSpPr txBox="1"/>
          <p:nvPr/>
        </p:nvSpPr>
        <p:spPr>
          <a:xfrm>
            <a:off x="8010144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3"/>
          <p:cNvSpPr txBox="1"/>
          <p:nvPr/>
        </p:nvSpPr>
        <p:spPr>
          <a:xfrm>
            <a:off x="274320" y="2670047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50-54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3"/>
          <p:cNvSpPr/>
          <p:nvPr/>
        </p:nvSpPr>
        <p:spPr>
          <a:xfrm>
            <a:off x="841248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3"/>
          <p:cNvSpPr txBox="1"/>
          <p:nvPr/>
        </p:nvSpPr>
        <p:spPr>
          <a:xfrm>
            <a:off x="841248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3"/>
          <p:cNvSpPr/>
          <p:nvPr/>
        </p:nvSpPr>
        <p:spPr>
          <a:xfrm>
            <a:off x="1609344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3"/>
          <p:cNvSpPr txBox="1"/>
          <p:nvPr/>
        </p:nvSpPr>
        <p:spPr>
          <a:xfrm>
            <a:off x="1609344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3"/>
          <p:cNvSpPr/>
          <p:nvPr/>
        </p:nvSpPr>
        <p:spPr>
          <a:xfrm>
            <a:off x="2377440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3"/>
          <p:cNvSpPr txBox="1"/>
          <p:nvPr/>
        </p:nvSpPr>
        <p:spPr>
          <a:xfrm>
            <a:off x="2377440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3"/>
          <p:cNvSpPr/>
          <p:nvPr/>
        </p:nvSpPr>
        <p:spPr>
          <a:xfrm>
            <a:off x="3145536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3"/>
          <p:cNvSpPr txBox="1"/>
          <p:nvPr/>
        </p:nvSpPr>
        <p:spPr>
          <a:xfrm>
            <a:off x="3145536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3"/>
          <p:cNvSpPr/>
          <p:nvPr/>
        </p:nvSpPr>
        <p:spPr>
          <a:xfrm>
            <a:off x="3913632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3"/>
          <p:cNvSpPr txBox="1"/>
          <p:nvPr/>
        </p:nvSpPr>
        <p:spPr>
          <a:xfrm>
            <a:off x="3913632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3"/>
          <p:cNvSpPr/>
          <p:nvPr/>
        </p:nvSpPr>
        <p:spPr>
          <a:xfrm>
            <a:off x="4937760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3"/>
          <p:cNvSpPr txBox="1"/>
          <p:nvPr/>
        </p:nvSpPr>
        <p:spPr>
          <a:xfrm>
            <a:off x="4937760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3"/>
          <p:cNvSpPr/>
          <p:nvPr/>
        </p:nvSpPr>
        <p:spPr>
          <a:xfrm>
            <a:off x="5705856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3"/>
          <p:cNvSpPr txBox="1"/>
          <p:nvPr/>
        </p:nvSpPr>
        <p:spPr>
          <a:xfrm>
            <a:off x="5705856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3"/>
          <p:cNvSpPr/>
          <p:nvPr/>
        </p:nvSpPr>
        <p:spPr>
          <a:xfrm>
            <a:off x="6473952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3"/>
          <p:cNvSpPr txBox="1"/>
          <p:nvPr/>
        </p:nvSpPr>
        <p:spPr>
          <a:xfrm>
            <a:off x="6473952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3"/>
          <p:cNvSpPr/>
          <p:nvPr/>
        </p:nvSpPr>
        <p:spPr>
          <a:xfrm>
            <a:off x="7242048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3"/>
          <p:cNvSpPr txBox="1"/>
          <p:nvPr/>
        </p:nvSpPr>
        <p:spPr>
          <a:xfrm>
            <a:off x="7242048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3"/>
          <p:cNvSpPr/>
          <p:nvPr/>
        </p:nvSpPr>
        <p:spPr>
          <a:xfrm>
            <a:off x="8010144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3"/>
          <p:cNvSpPr txBox="1"/>
          <p:nvPr/>
        </p:nvSpPr>
        <p:spPr>
          <a:xfrm>
            <a:off x="8010144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3"/>
          <p:cNvSpPr txBox="1"/>
          <p:nvPr/>
        </p:nvSpPr>
        <p:spPr>
          <a:xfrm>
            <a:off x="274320" y="2935223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55-59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3"/>
          <p:cNvSpPr/>
          <p:nvPr/>
        </p:nvSpPr>
        <p:spPr>
          <a:xfrm>
            <a:off x="841248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3"/>
          <p:cNvSpPr txBox="1"/>
          <p:nvPr/>
        </p:nvSpPr>
        <p:spPr>
          <a:xfrm>
            <a:off x="841248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3"/>
          <p:cNvSpPr/>
          <p:nvPr/>
        </p:nvSpPr>
        <p:spPr>
          <a:xfrm>
            <a:off x="1609344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3"/>
          <p:cNvSpPr txBox="1"/>
          <p:nvPr/>
        </p:nvSpPr>
        <p:spPr>
          <a:xfrm>
            <a:off x="1609344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3"/>
          <p:cNvSpPr/>
          <p:nvPr/>
        </p:nvSpPr>
        <p:spPr>
          <a:xfrm>
            <a:off x="2377440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3"/>
          <p:cNvSpPr txBox="1"/>
          <p:nvPr/>
        </p:nvSpPr>
        <p:spPr>
          <a:xfrm>
            <a:off x="2377440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3"/>
          <p:cNvSpPr/>
          <p:nvPr/>
        </p:nvSpPr>
        <p:spPr>
          <a:xfrm>
            <a:off x="3145536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3"/>
          <p:cNvSpPr txBox="1"/>
          <p:nvPr/>
        </p:nvSpPr>
        <p:spPr>
          <a:xfrm>
            <a:off x="3145536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3"/>
          <p:cNvSpPr/>
          <p:nvPr/>
        </p:nvSpPr>
        <p:spPr>
          <a:xfrm>
            <a:off x="3913632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D7C7A1">
              <a:alpha val="40000"/>
            </a:srgbClr>
          </a:solidFill>
          <a:ln cap="flat" cmpd="sng" w="12700">
            <a:solidFill>
              <a:srgbClr val="D7C7A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3"/>
          <p:cNvSpPr txBox="1"/>
          <p:nvPr/>
        </p:nvSpPr>
        <p:spPr>
          <a:xfrm>
            <a:off x="3913632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3"/>
          <p:cNvSpPr/>
          <p:nvPr/>
        </p:nvSpPr>
        <p:spPr>
          <a:xfrm>
            <a:off x="4937760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>
              <a:alpha val="40000"/>
            </a:srgbClr>
          </a:solidFill>
          <a:ln cap="flat" cmpd="sng" w="12700">
            <a:solidFill>
              <a:srgbClr val="A9D6C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3"/>
          <p:cNvSpPr txBox="1"/>
          <p:nvPr/>
        </p:nvSpPr>
        <p:spPr>
          <a:xfrm>
            <a:off x="4937760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3"/>
          <p:cNvSpPr/>
          <p:nvPr/>
        </p:nvSpPr>
        <p:spPr>
          <a:xfrm>
            <a:off x="5705856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>
              <a:alpha val="40000"/>
            </a:srgbClr>
          </a:solidFill>
          <a:ln cap="flat" cmpd="sng" w="12700">
            <a:solidFill>
              <a:srgbClr val="A9D6C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3"/>
          <p:cNvSpPr txBox="1"/>
          <p:nvPr/>
        </p:nvSpPr>
        <p:spPr>
          <a:xfrm>
            <a:off x="5705856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3"/>
          <p:cNvSpPr/>
          <p:nvPr/>
        </p:nvSpPr>
        <p:spPr>
          <a:xfrm>
            <a:off x="6473952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>
              <a:alpha val="40000"/>
            </a:srgbClr>
          </a:solidFill>
          <a:ln cap="flat" cmpd="sng" w="12700">
            <a:solidFill>
              <a:srgbClr val="A9D6C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3"/>
          <p:cNvSpPr txBox="1"/>
          <p:nvPr/>
        </p:nvSpPr>
        <p:spPr>
          <a:xfrm>
            <a:off x="6473952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3"/>
          <p:cNvSpPr/>
          <p:nvPr/>
        </p:nvSpPr>
        <p:spPr>
          <a:xfrm>
            <a:off x="7242048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>
              <a:alpha val="40000"/>
            </a:srgbClr>
          </a:solidFill>
          <a:ln cap="flat" cmpd="sng" w="12700">
            <a:solidFill>
              <a:srgbClr val="A8BC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3"/>
          <p:cNvSpPr txBox="1"/>
          <p:nvPr/>
        </p:nvSpPr>
        <p:spPr>
          <a:xfrm>
            <a:off x="7242048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3"/>
          <p:cNvSpPr/>
          <p:nvPr/>
        </p:nvSpPr>
        <p:spPr>
          <a:xfrm>
            <a:off x="8010144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>
              <a:alpha val="40000"/>
            </a:srgbClr>
          </a:solidFill>
          <a:ln cap="flat" cmpd="sng" w="12700">
            <a:solidFill>
              <a:srgbClr val="A8BC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3"/>
          <p:cNvSpPr txBox="1"/>
          <p:nvPr/>
        </p:nvSpPr>
        <p:spPr>
          <a:xfrm>
            <a:off x="8010144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3"/>
          <p:cNvSpPr txBox="1"/>
          <p:nvPr/>
        </p:nvSpPr>
        <p:spPr>
          <a:xfrm>
            <a:off x="274320" y="3200399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60+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3"/>
          <p:cNvSpPr/>
          <p:nvPr/>
        </p:nvSpPr>
        <p:spPr>
          <a:xfrm>
            <a:off x="841248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3"/>
          <p:cNvSpPr txBox="1"/>
          <p:nvPr/>
        </p:nvSpPr>
        <p:spPr>
          <a:xfrm>
            <a:off x="841248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3"/>
          <p:cNvSpPr/>
          <p:nvPr/>
        </p:nvSpPr>
        <p:spPr>
          <a:xfrm>
            <a:off x="1609344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3"/>
          <p:cNvSpPr txBox="1"/>
          <p:nvPr/>
        </p:nvSpPr>
        <p:spPr>
          <a:xfrm>
            <a:off x="1609344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3"/>
          <p:cNvSpPr/>
          <p:nvPr/>
        </p:nvSpPr>
        <p:spPr>
          <a:xfrm>
            <a:off x="2377440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3"/>
          <p:cNvSpPr txBox="1"/>
          <p:nvPr/>
        </p:nvSpPr>
        <p:spPr>
          <a:xfrm>
            <a:off x="2377440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3"/>
          <p:cNvSpPr/>
          <p:nvPr/>
        </p:nvSpPr>
        <p:spPr>
          <a:xfrm>
            <a:off x="3145536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3"/>
          <p:cNvSpPr txBox="1"/>
          <p:nvPr/>
        </p:nvSpPr>
        <p:spPr>
          <a:xfrm>
            <a:off x="3145536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3"/>
          <p:cNvSpPr/>
          <p:nvPr/>
        </p:nvSpPr>
        <p:spPr>
          <a:xfrm>
            <a:off x="3913632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D7C7A1">
              <a:alpha val="40000"/>
            </a:srgbClr>
          </a:solidFill>
          <a:ln cap="flat" cmpd="sng" w="12700">
            <a:solidFill>
              <a:srgbClr val="D7C7A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3"/>
          <p:cNvSpPr txBox="1"/>
          <p:nvPr/>
        </p:nvSpPr>
        <p:spPr>
          <a:xfrm>
            <a:off x="3913632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3"/>
          <p:cNvSpPr/>
          <p:nvPr/>
        </p:nvSpPr>
        <p:spPr>
          <a:xfrm>
            <a:off x="4937760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>
              <a:alpha val="40000"/>
            </a:srgbClr>
          </a:solidFill>
          <a:ln cap="flat" cmpd="sng" w="12700">
            <a:solidFill>
              <a:srgbClr val="A9D6C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3"/>
          <p:cNvSpPr txBox="1"/>
          <p:nvPr/>
        </p:nvSpPr>
        <p:spPr>
          <a:xfrm>
            <a:off x="4937760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3"/>
          <p:cNvSpPr/>
          <p:nvPr/>
        </p:nvSpPr>
        <p:spPr>
          <a:xfrm>
            <a:off x="5705856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>
              <a:alpha val="40000"/>
            </a:srgbClr>
          </a:solidFill>
          <a:ln cap="flat" cmpd="sng" w="12700">
            <a:solidFill>
              <a:srgbClr val="A9D6C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3"/>
          <p:cNvSpPr txBox="1"/>
          <p:nvPr/>
        </p:nvSpPr>
        <p:spPr>
          <a:xfrm>
            <a:off x="5705856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3"/>
          <p:cNvSpPr/>
          <p:nvPr/>
        </p:nvSpPr>
        <p:spPr>
          <a:xfrm>
            <a:off x="6473952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>
              <a:alpha val="40000"/>
            </a:srgbClr>
          </a:solidFill>
          <a:ln cap="flat" cmpd="sng" w="12700">
            <a:solidFill>
              <a:srgbClr val="A9D6C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3"/>
          <p:cNvSpPr txBox="1"/>
          <p:nvPr/>
        </p:nvSpPr>
        <p:spPr>
          <a:xfrm>
            <a:off x="6473952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3"/>
          <p:cNvSpPr/>
          <p:nvPr/>
        </p:nvSpPr>
        <p:spPr>
          <a:xfrm>
            <a:off x="7242048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>
              <a:alpha val="40000"/>
            </a:srgbClr>
          </a:solidFill>
          <a:ln cap="flat" cmpd="sng" w="12700">
            <a:solidFill>
              <a:srgbClr val="A8BC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3"/>
          <p:cNvSpPr txBox="1"/>
          <p:nvPr/>
        </p:nvSpPr>
        <p:spPr>
          <a:xfrm>
            <a:off x="7242048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3"/>
          <p:cNvSpPr/>
          <p:nvPr/>
        </p:nvSpPr>
        <p:spPr>
          <a:xfrm>
            <a:off x="8010144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>
              <a:alpha val="40000"/>
            </a:srgbClr>
          </a:solidFill>
          <a:ln cap="flat" cmpd="sng" w="12700">
            <a:solidFill>
              <a:srgbClr val="A8BC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3"/>
          <p:cNvSpPr txBox="1"/>
          <p:nvPr/>
        </p:nvSpPr>
        <p:spPr>
          <a:xfrm>
            <a:off x="8010144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3"/>
          <p:cNvSpPr/>
          <p:nvPr/>
        </p:nvSpPr>
        <p:spPr>
          <a:xfrm>
            <a:off x="1563624" y="1060704"/>
            <a:ext cx="3108960" cy="1883663"/>
          </a:xfrm>
          <a:prstGeom prst="rect">
            <a:avLst/>
          </a:prstGeom>
          <a:noFill/>
          <a:ln cap="flat" cmpd="sng" w="22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3"/>
          <p:cNvSpPr/>
          <p:nvPr/>
        </p:nvSpPr>
        <p:spPr>
          <a:xfrm>
            <a:off x="4892040" y="1060704"/>
            <a:ext cx="3877056" cy="1883663"/>
          </a:xfrm>
          <a:prstGeom prst="rect">
            <a:avLst/>
          </a:prstGeom>
          <a:noFill/>
          <a:ln cap="flat" cmpd="sng" w="22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3"/>
          <p:cNvSpPr txBox="1"/>
          <p:nvPr/>
        </p:nvSpPr>
        <p:spPr>
          <a:xfrm>
            <a:off x="274320" y="3593591"/>
            <a:ext cx="8503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b="1" i="0" lang="es-419" sz="8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▭ Recuadro: universo Tenpo.  </a:t>
            </a:r>
            <a:r>
              <a:rPr b="1" i="0" lang="es-419" sz="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▢ Borde naranja: </a:t>
            </a: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las 14 celdas que cambian de perfil respecto de la matriz actual.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3"/>
          <p:cNvSpPr txBox="1"/>
          <p:nvPr/>
        </p:nvSpPr>
        <p:spPr>
          <a:xfrm>
            <a:off x="274320" y="3794760"/>
            <a:ext cx="8503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b="1" i="0" lang="es-419" sz="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Principales cambios: </a:t>
            </a:r>
            <a:r>
              <a:rPr b="0" i="0" lang="es-419" sz="9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los jóvenes sub bancarizados de 18-29 pasan a P2 (salvo C3 SB 18-24, que pasa a P5); los D y E bancarizados de 30-34 pasan a P4; P3 queda como perfil de jóvenes bancarizados. </a:t>
            </a:r>
            <a:r>
              <a:rPr b="1" i="0" lang="es-419" sz="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Cambios menores: </a:t>
            </a:r>
            <a:r>
              <a:rPr b="0" i="0" lang="es-419" sz="9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ABC1 SB 30-39 salen de P7, C2 B 30-34 sale de P6 y D SB 45-49 pasa de P1 a P2.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4"/>
          <p:cNvSpPr/>
          <p:nvPr/>
        </p:nvSpPr>
        <p:spPr>
          <a:xfrm>
            <a:off x="0" y="0"/>
            <a:ext cx="9141600" cy="58290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4"/>
          <p:cNvSpPr txBox="1"/>
          <p:nvPr/>
        </p:nvSpPr>
        <p:spPr>
          <a:xfrm>
            <a:off x="377190" y="82296"/>
            <a:ext cx="83667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es-419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¿Cómo encontramos los 7 perfiles?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4"/>
          <p:cNvSpPr txBox="1"/>
          <p:nvPr/>
        </p:nvSpPr>
        <p:spPr>
          <a:xfrm>
            <a:off x="1366525" y="830150"/>
            <a:ext cx="3233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1200">
                <a:solidFill>
                  <a:srgbClr val="0F172A"/>
                </a:solidFill>
              </a:rPr>
              <a:t>Datos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4"/>
          <p:cNvSpPr txBox="1"/>
          <p:nvPr/>
        </p:nvSpPr>
        <p:spPr>
          <a:xfrm>
            <a:off x="5313930" y="830150"/>
            <a:ext cx="4041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1200">
                <a:solidFill>
                  <a:srgbClr val="0F172A"/>
                </a:solidFill>
              </a:rPr>
              <a:t>Experiencia en la industria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4"/>
          <p:cNvSpPr txBox="1"/>
          <p:nvPr/>
        </p:nvSpPr>
        <p:spPr>
          <a:xfrm>
            <a:off x="388615" y="6181390"/>
            <a:ext cx="83667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Fuente: Panel Equifax Chile. Universo: 18 a 54 años, excluye E Sub Bancarizado.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4"/>
          <p:cNvSpPr txBox="1"/>
          <p:nvPr/>
        </p:nvSpPr>
        <p:spPr>
          <a:xfrm>
            <a:off x="6094225" y="1157800"/>
            <a:ext cx="2721300" cy="1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s-419" sz="1000">
                <a:solidFill>
                  <a:srgbClr val="6B7280"/>
                </a:solidFill>
              </a:rPr>
              <a:t>Perfiles </a:t>
            </a:r>
            <a:r>
              <a:rPr b="1" lang="es-419" sz="1000">
                <a:solidFill>
                  <a:srgbClr val="6B7280"/>
                </a:solidFill>
              </a:rPr>
              <a:t>simples pero representativos</a:t>
            </a:r>
            <a:r>
              <a:rPr lang="es-419" sz="1000">
                <a:solidFill>
                  <a:srgbClr val="6B7280"/>
                </a:solidFill>
              </a:rPr>
              <a:t> de la población en cuanto a </a:t>
            </a:r>
            <a:r>
              <a:rPr b="1" lang="es-419" sz="1000">
                <a:solidFill>
                  <a:srgbClr val="6B7280"/>
                </a:solidFill>
              </a:rPr>
              <a:t>características</a:t>
            </a:r>
            <a:r>
              <a:rPr b="1" lang="es-419" sz="1000">
                <a:solidFill>
                  <a:srgbClr val="6B7280"/>
                </a:solidFill>
              </a:rPr>
              <a:t> financieras.</a:t>
            </a:r>
            <a:endParaRPr b="1" sz="1000">
              <a:solidFill>
                <a:srgbClr val="6B7280"/>
              </a:solidFill>
            </a:endParaRPr>
          </a:p>
        </p:txBody>
      </p:sp>
      <p:sp>
        <p:nvSpPr>
          <p:cNvPr id="610" name="Google Shape;610;p24"/>
          <p:cNvSpPr txBox="1"/>
          <p:nvPr/>
        </p:nvSpPr>
        <p:spPr>
          <a:xfrm>
            <a:off x="290575" y="2345510"/>
            <a:ext cx="8525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Arial"/>
              <a:buNone/>
            </a:pPr>
            <a:r>
              <a:rPr b="1" i="0" lang="es-419" sz="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¿Por qué una persona queda en un perfil y no en otro?</a:t>
            </a:r>
            <a:r>
              <a:rPr b="0" i="0" lang="es-419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 Funciona como asignar vecinos a la sucursal más cercana a su comuna.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4"/>
          <p:cNvSpPr/>
          <p:nvPr/>
        </p:nvSpPr>
        <p:spPr>
          <a:xfrm>
            <a:off x="290575" y="2699557"/>
            <a:ext cx="3206700" cy="1234500"/>
          </a:xfrm>
          <a:prstGeom prst="roundRect">
            <a:avLst>
              <a:gd fmla="val 4444" name="adj"/>
            </a:avLst>
          </a:prstGeom>
          <a:solidFill>
            <a:srgbClr val="F8FA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2" name="Google Shape;612;p24"/>
          <p:cNvCxnSpPr/>
          <p:nvPr/>
        </p:nvCxnSpPr>
        <p:spPr>
          <a:xfrm>
            <a:off x="569394" y="2960158"/>
            <a:ext cx="453000" cy="3567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3" name="Google Shape;613;p24"/>
          <p:cNvCxnSpPr/>
          <p:nvPr/>
        </p:nvCxnSpPr>
        <p:spPr>
          <a:xfrm flipH="1">
            <a:off x="499874" y="3316769"/>
            <a:ext cx="522600" cy="342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4" name="Google Shape;614;p24"/>
          <p:cNvCxnSpPr/>
          <p:nvPr/>
        </p:nvCxnSpPr>
        <p:spPr>
          <a:xfrm flipH="1">
            <a:off x="673874" y="3316769"/>
            <a:ext cx="348600" cy="3771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5" name="Google Shape;615;p24"/>
          <p:cNvCxnSpPr/>
          <p:nvPr/>
        </p:nvCxnSpPr>
        <p:spPr>
          <a:xfrm>
            <a:off x="1022474" y="3316769"/>
            <a:ext cx="278700" cy="2742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6" name="Google Shape;616;p24"/>
          <p:cNvCxnSpPr/>
          <p:nvPr/>
        </p:nvCxnSpPr>
        <p:spPr>
          <a:xfrm flipH="1">
            <a:off x="1022307" y="2905295"/>
            <a:ext cx="488100" cy="4116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7" name="Google Shape;617;p24"/>
          <p:cNvCxnSpPr/>
          <p:nvPr/>
        </p:nvCxnSpPr>
        <p:spPr>
          <a:xfrm>
            <a:off x="1022474" y="3316769"/>
            <a:ext cx="627000" cy="1371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8" name="Google Shape;618;p24"/>
          <p:cNvCxnSpPr/>
          <p:nvPr/>
        </p:nvCxnSpPr>
        <p:spPr>
          <a:xfrm flipH="1">
            <a:off x="1022514" y="3111032"/>
            <a:ext cx="745800" cy="2058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9" name="Google Shape;619;p24"/>
          <p:cNvCxnSpPr/>
          <p:nvPr/>
        </p:nvCxnSpPr>
        <p:spPr>
          <a:xfrm flipH="1">
            <a:off x="1998291" y="3316769"/>
            <a:ext cx="766800" cy="3429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0" name="Google Shape;620;p24"/>
          <p:cNvCxnSpPr/>
          <p:nvPr/>
        </p:nvCxnSpPr>
        <p:spPr>
          <a:xfrm>
            <a:off x="2207454" y="3076742"/>
            <a:ext cx="557700" cy="2400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1" name="Google Shape;621;p24"/>
          <p:cNvCxnSpPr/>
          <p:nvPr/>
        </p:nvCxnSpPr>
        <p:spPr>
          <a:xfrm flipH="1">
            <a:off x="2312091" y="3316769"/>
            <a:ext cx="453000" cy="342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2" name="Google Shape;622;p24"/>
          <p:cNvCxnSpPr/>
          <p:nvPr/>
        </p:nvCxnSpPr>
        <p:spPr>
          <a:xfrm flipH="1">
            <a:off x="2625591" y="3316769"/>
            <a:ext cx="139500" cy="4116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3" name="Google Shape;623;p24"/>
          <p:cNvCxnSpPr/>
          <p:nvPr/>
        </p:nvCxnSpPr>
        <p:spPr>
          <a:xfrm flipH="1">
            <a:off x="2765143" y="2905295"/>
            <a:ext cx="34800" cy="4116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4" name="Google Shape;624;p24"/>
          <p:cNvCxnSpPr/>
          <p:nvPr/>
        </p:nvCxnSpPr>
        <p:spPr>
          <a:xfrm flipH="1">
            <a:off x="2765014" y="3145321"/>
            <a:ext cx="348600" cy="1716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5" name="Google Shape;625;p24"/>
          <p:cNvCxnSpPr/>
          <p:nvPr/>
        </p:nvCxnSpPr>
        <p:spPr>
          <a:xfrm>
            <a:off x="2765091" y="3316769"/>
            <a:ext cx="453000" cy="3087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6" name="Google Shape;626;p24"/>
          <p:cNvCxnSpPr/>
          <p:nvPr/>
        </p:nvCxnSpPr>
        <p:spPr>
          <a:xfrm flipH="1">
            <a:off x="2381691" y="3316769"/>
            <a:ext cx="383400" cy="4458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7" name="Google Shape;627;p24"/>
          <p:cNvCxnSpPr/>
          <p:nvPr/>
        </p:nvCxnSpPr>
        <p:spPr>
          <a:xfrm>
            <a:off x="1893783" y="2768136"/>
            <a:ext cx="0" cy="1097400"/>
          </a:xfrm>
          <a:prstGeom prst="straightConnector1">
            <a:avLst/>
          </a:prstGeom>
          <a:noFill/>
          <a:ln cap="flat" cmpd="sng" w="15875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28" name="Google Shape;628;p24"/>
          <p:cNvSpPr txBox="1"/>
          <p:nvPr/>
        </p:nvSpPr>
        <p:spPr>
          <a:xfrm>
            <a:off x="673951" y="3714528"/>
            <a:ext cx="1164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b="0" i="1" lang="es-419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frontera: mitad de camino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4"/>
          <p:cNvSpPr/>
          <p:nvPr/>
        </p:nvSpPr>
        <p:spPr>
          <a:xfrm>
            <a:off x="520600" y="2912152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4"/>
          <p:cNvSpPr/>
          <p:nvPr/>
        </p:nvSpPr>
        <p:spPr>
          <a:xfrm>
            <a:off x="450896" y="3303053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4"/>
          <p:cNvSpPr/>
          <p:nvPr/>
        </p:nvSpPr>
        <p:spPr>
          <a:xfrm>
            <a:off x="625157" y="3645949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4"/>
          <p:cNvSpPr/>
          <p:nvPr/>
        </p:nvSpPr>
        <p:spPr>
          <a:xfrm>
            <a:off x="1252500" y="3543080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4"/>
          <p:cNvSpPr/>
          <p:nvPr/>
        </p:nvSpPr>
        <p:spPr>
          <a:xfrm>
            <a:off x="1461614" y="2857289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4"/>
          <p:cNvSpPr/>
          <p:nvPr/>
        </p:nvSpPr>
        <p:spPr>
          <a:xfrm>
            <a:off x="1601023" y="3405922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4"/>
          <p:cNvSpPr/>
          <p:nvPr/>
        </p:nvSpPr>
        <p:spPr>
          <a:xfrm>
            <a:off x="1719521" y="3063026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4"/>
          <p:cNvSpPr/>
          <p:nvPr/>
        </p:nvSpPr>
        <p:spPr>
          <a:xfrm>
            <a:off x="1949546" y="3611659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4"/>
          <p:cNvSpPr/>
          <p:nvPr/>
        </p:nvSpPr>
        <p:spPr>
          <a:xfrm>
            <a:off x="2158660" y="3028737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4"/>
          <p:cNvSpPr/>
          <p:nvPr/>
        </p:nvSpPr>
        <p:spPr>
          <a:xfrm>
            <a:off x="2263217" y="3303053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4"/>
          <p:cNvSpPr/>
          <p:nvPr/>
        </p:nvSpPr>
        <p:spPr>
          <a:xfrm>
            <a:off x="2576888" y="3680238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4"/>
          <p:cNvSpPr/>
          <p:nvPr/>
        </p:nvSpPr>
        <p:spPr>
          <a:xfrm>
            <a:off x="2751150" y="2857289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4"/>
          <p:cNvSpPr/>
          <p:nvPr/>
        </p:nvSpPr>
        <p:spPr>
          <a:xfrm>
            <a:off x="3064821" y="3097316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4"/>
          <p:cNvSpPr/>
          <p:nvPr/>
        </p:nvSpPr>
        <p:spPr>
          <a:xfrm>
            <a:off x="3169378" y="3577370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4"/>
          <p:cNvSpPr/>
          <p:nvPr/>
        </p:nvSpPr>
        <p:spPr>
          <a:xfrm>
            <a:off x="2332922" y="3714528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4"/>
          <p:cNvSpPr/>
          <p:nvPr/>
        </p:nvSpPr>
        <p:spPr>
          <a:xfrm>
            <a:off x="848212" y="3145321"/>
            <a:ext cx="348600" cy="342900"/>
          </a:xfrm>
          <a:prstGeom prst="ellipse">
            <a:avLst/>
          </a:prstGeom>
          <a:solidFill>
            <a:srgbClr val="A8BCE0"/>
          </a:solidFill>
          <a:ln cap="flat" cmpd="sng" w="19050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4"/>
          <p:cNvSpPr txBox="1"/>
          <p:nvPr/>
        </p:nvSpPr>
        <p:spPr>
          <a:xfrm>
            <a:off x="848212" y="3145321"/>
            <a:ext cx="34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4"/>
          <p:cNvSpPr/>
          <p:nvPr/>
        </p:nvSpPr>
        <p:spPr>
          <a:xfrm>
            <a:off x="2590829" y="3145321"/>
            <a:ext cx="348600" cy="342900"/>
          </a:xfrm>
          <a:prstGeom prst="ellipse">
            <a:avLst/>
          </a:prstGeom>
          <a:solidFill>
            <a:srgbClr val="A9D6CC"/>
          </a:solidFill>
          <a:ln cap="flat" cmpd="sng" w="19050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4"/>
          <p:cNvSpPr txBox="1"/>
          <p:nvPr/>
        </p:nvSpPr>
        <p:spPr>
          <a:xfrm>
            <a:off x="2590829" y="3145321"/>
            <a:ext cx="34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4"/>
          <p:cNvSpPr/>
          <p:nvPr/>
        </p:nvSpPr>
        <p:spPr>
          <a:xfrm>
            <a:off x="492719" y="2884721"/>
            <a:ext cx="153300" cy="150900"/>
          </a:xfrm>
          <a:prstGeom prst="ellipse">
            <a:avLst/>
          </a:prstGeom>
          <a:solidFill>
            <a:srgbClr val="A8BCE0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4"/>
          <p:cNvSpPr txBox="1"/>
          <p:nvPr/>
        </p:nvSpPr>
        <p:spPr>
          <a:xfrm>
            <a:off x="680921" y="2884721"/>
            <a:ext cx="8364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600"/>
              <a:buFont typeface="Arial"/>
              <a:buNone/>
            </a:pPr>
            <a:r>
              <a:rPr b="1" i="0" lang="es-419" sz="6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Ej: C2 B, 35-39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4"/>
          <p:cNvSpPr/>
          <p:nvPr/>
        </p:nvSpPr>
        <p:spPr>
          <a:xfrm>
            <a:off x="3706104" y="2699557"/>
            <a:ext cx="5109300" cy="226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4"/>
          <p:cNvSpPr txBox="1"/>
          <p:nvPr/>
        </p:nvSpPr>
        <p:spPr>
          <a:xfrm>
            <a:off x="3789750" y="2699557"/>
            <a:ext cx="6972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Vecino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4"/>
          <p:cNvSpPr txBox="1"/>
          <p:nvPr/>
        </p:nvSpPr>
        <p:spPr>
          <a:xfrm>
            <a:off x="4472856" y="2699557"/>
            <a:ext cx="2091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4"/>
          <p:cNvSpPr txBox="1"/>
          <p:nvPr/>
        </p:nvSpPr>
        <p:spPr>
          <a:xfrm>
            <a:off x="4716822" y="2699557"/>
            <a:ext cx="40287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Persona: </a:t>
            </a:r>
            <a:r>
              <a:rPr lang="es-419" sz="800">
                <a:solidFill>
                  <a:srgbClr val="1A1A2E"/>
                </a:solidFill>
              </a:rPr>
              <a:t>cae</a:t>
            </a:r>
            <a:r>
              <a:rPr b="0" i="0" lang="es-419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 en una sola celda, definida por su edad, GSE y bancarización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4"/>
          <p:cNvSpPr/>
          <p:nvPr/>
        </p:nvSpPr>
        <p:spPr>
          <a:xfrm>
            <a:off x="3706104" y="2946442"/>
            <a:ext cx="5109300" cy="22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4"/>
          <p:cNvSpPr txBox="1"/>
          <p:nvPr/>
        </p:nvSpPr>
        <p:spPr>
          <a:xfrm>
            <a:off x="3789750" y="2946442"/>
            <a:ext cx="6972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Comuna </a:t>
            </a:r>
            <a:r>
              <a:rPr lang="es-419" sz="800">
                <a:solidFill>
                  <a:srgbClr val="6B7280"/>
                </a:solidFill>
              </a:rPr>
              <a:t>(</a:t>
            </a: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63)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4"/>
          <p:cNvSpPr txBox="1"/>
          <p:nvPr/>
        </p:nvSpPr>
        <p:spPr>
          <a:xfrm>
            <a:off x="4472856" y="2946442"/>
            <a:ext cx="2091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4"/>
          <p:cNvSpPr txBox="1"/>
          <p:nvPr/>
        </p:nvSpPr>
        <p:spPr>
          <a:xfrm>
            <a:off x="4716822" y="2946442"/>
            <a:ext cx="40287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Celda: </a:t>
            </a:r>
            <a:r>
              <a:rPr b="0" i="0" lang="es-419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ej: un C2 bancarizado de 37 años vive en la celda "C2 B, 35-39"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4"/>
          <p:cNvSpPr/>
          <p:nvPr/>
        </p:nvSpPr>
        <p:spPr>
          <a:xfrm>
            <a:off x="3706104" y="3193327"/>
            <a:ext cx="5109300" cy="226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4"/>
          <p:cNvSpPr txBox="1"/>
          <p:nvPr/>
        </p:nvSpPr>
        <p:spPr>
          <a:xfrm>
            <a:off x="3789750" y="3193327"/>
            <a:ext cx="6972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Sucursal (7)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4"/>
          <p:cNvSpPr txBox="1"/>
          <p:nvPr/>
        </p:nvSpPr>
        <p:spPr>
          <a:xfrm>
            <a:off x="4472856" y="3193327"/>
            <a:ext cx="2091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4"/>
          <p:cNvSpPr txBox="1"/>
          <p:nvPr/>
        </p:nvSpPr>
        <p:spPr>
          <a:xfrm>
            <a:off x="4716822" y="3193327"/>
            <a:ext cx="40287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Perfil: </a:t>
            </a:r>
            <a:r>
              <a:rPr b="0" i="0" lang="es-419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cada celda, con todas sus personas, va al perfil más cercano: "C2 B, 35-39" va a 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4"/>
          <p:cNvSpPr/>
          <p:nvPr/>
        </p:nvSpPr>
        <p:spPr>
          <a:xfrm>
            <a:off x="3706104" y="3440212"/>
            <a:ext cx="5109300" cy="22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4"/>
          <p:cNvSpPr txBox="1"/>
          <p:nvPr/>
        </p:nvSpPr>
        <p:spPr>
          <a:xfrm>
            <a:off x="3789750" y="3440212"/>
            <a:ext cx="6972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Cercanía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4"/>
          <p:cNvSpPr txBox="1"/>
          <p:nvPr/>
        </p:nvSpPr>
        <p:spPr>
          <a:xfrm>
            <a:off x="4472856" y="3440212"/>
            <a:ext cx="2091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4"/>
          <p:cNvSpPr txBox="1"/>
          <p:nvPr/>
        </p:nvSpPr>
        <p:spPr>
          <a:xfrm>
            <a:off x="4716822" y="3440212"/>
            <a:ext cx="40287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A1A2E"/>
                </a:solidFill>
              </a:rPr>
              <a:t>6 variables a la vez: </a:t>
            </a:r>
            <a:r>
              <a:rPr b="0" i="0" lang="es-419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score, mora, % bancarizado, % comercial, renta y patrimonio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4"/>
          <p:cNvSpPr/>
          <p:nvPr/>
        </p:nvSpPr>
        <p:spPr>
          <a:xfrm>
            <a:off x="3706104" y="3687096"/>
            <a:ext cx="5109300" cy="226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4"/>
          <p:cNvSpPr txBox="1"/>
          <p:nvPr/>
        </p:nvSpPr>
        <p:spPr>
          <a:xfrm>
            <a:off x="3789750" y="3687096"/>
            <a:ext cx="6972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Límite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4"/>
          <p:cNvSpPr txBox="1"/>
          <p:nvPr/>
        </p:nvSpPr>
        <p:spPr>
          <a:xfrm>
            <a:off x="4472856" y="3687096"/>
            <a:ext cx="2091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4"/>
          <p:cNvSpPr txBox="1"/>
          <p:nvPr/>
        </p:nvSpPr>
        <p:spPr>
          <a:xfrm>
            <a:off x="4716822" y="3687096"/>
            <a:ext cx="40287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Sin corte fijo: </a:t>
            </a:r>
            <a:r>
              <a:rPr b="0" i="0" lang="es-419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la frontera queda donde una celda está a mitad de camino entre dos perfiles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4"/>
          <p:cNvSpPr/>
          <p:nvPr/>
        </p:nvSpPr>
        <p:spPr>
          <a:xfrm>
            <a:off x="290577" y="1157800"/>
            <a:ext cx="1707000" cy="464400"/>
          </a:xfrm>
          <a:prstGeom prst="roundRect">
            <a:avLst>
              <a:gd fmla="val 5263" name="adj"/>
            </a:avLst>
          </a:prstGeom>
          <a:solidFill>
            <a:srgbClr val="FEF2F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4"/>
          <p:cNvSpPr txBox="1"/>
          <p:nvPr/>
        </p:nvSpPr>
        <p:spPr>
          <a:xfrm>
            <a:off x="387451" y="1242107"/>
            <a:ext cx="15132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100"/>
              <a:buFont typeface="Arial"/>
              <a:buNone/>
            </a:pPr>
            <a:r>
              <a:rPr b="1" lang="es-419" sz="1100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Salud crediticia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4"/>
          <p:cNvSpPr txBox="1"/>
          <p:nvPr/>
        </p:nvSpPr>
        <p:spPr>
          <a:xfrm>
            <a:off x="387448" y="1395799"/>
            <a:ext cx="1513200" cy="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Score</a:t>
            </a:r>
            <a:r>
              <a:rPr lang="es-419" sz="800">
                <a:solidFill>
                  <a:srgbClr val="1A1A2E"/>
                </a:solidFill>
              </a:rPr>
              <a:t>, </a:t>
            </a: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% Mora</a:t>
            </a:r>
            <a:r>
              <a:rPr lang="es-419" sz="8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4"/>
          <p:cNvSpPr/>
          <p:nvPr/>
        </p:nvSpPr>
        <p:spPr>
          <a:xfrm>
            <a:off x="2129715" y="1157800"/>
            <a:ext cx="1707000" cy="464400"/>
          </a:xfrm>
          <a:prstGeom prst="roundRect">
            <a:avLst>
              <a:gd fmla="val 5263" name="adj"/>
            </a:avLst>
          </a:prstGeom>
          <a:solidFill>
            <a:srgbClr val="FFFBEB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4"/>
          <p:cNvSpPr txBox="1"/>
          <p:nvPr/>
        </p:nvSpPr>
        <p:spPr>
          <a:xfrm>
            <a:off x="2226589" y="1242107"/>
            <a:ext cx="15132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Arial"/>
              <a:buNone/>
            </a:pPr>
            <a:r>
              <a:rPr b="1" lang="es-419" sz="1100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Clasificación B / SB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4"/>
          <p:cNvSpPr txBox="1"/>
          <p:nvPr/>
        </p:nvSpPr>
        <p:spPr>
          <a:xfrm>
            <a:off x="2226543" y="1406132"/>
            <a:ext cx="1513200" cy="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% Bancarizado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4"/>
          <p:cNvSpPr/>
          <p:nvPr/>
        </p:nvSpPr>
        <p:spPr>
          <a:xfrm>
            <a:off x="3968853" y="1157800"/>
            <a:ext cx="1707000" cy="464400"/>
          </a:xfrm>
          <a:prstGeom prst="roundRect">
            <a:avLst>
              <a:gd fmla="val 5263" name="adj"/>
            </a:avLst>
          </a:prstGeom>
          <a:solidFill>
            <a:srgbClr val="F0FDF4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4"/>
          <p:cNvSpPr txBox="1"/>
          <p:nvPr/>
        </p:nvSpPr>
        <p:spPr>
          <a:xfrm>
            <a:off x="4065727" y="1242107"/>
            <a:ext cx="15132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Arial"/>
              <a:buNone/>
            </a:pPr>
            <a:r>
              <a:rPr b="1" lang="es-419" sz="1100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Respaldo económico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4"/>
          <p:cNvSpPr txBox="1"/>
          <p:nvPr/>
        </p:nvSpPr>
        <p:spPr>
          <a:xfrm>
            <a:off x="4065719" y="1408861"/>
            <a:ext cx="1513200" cy="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Renta</a:t>
            </a:r>
            <a:r>
              <a:rPr lang="es-419" sz="800">
                <a:solidFill>
                  <a:srgbClr val="1A1A2E"/>
                </a:solidFill>
              </a:rPr>
              <a:t>, </a:t>
            </a: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Patrimonio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25"/>
          <p:cNvSpPr/>
          <p:nvPr/>
        </p:nvSpPr>
        <p:spPr>
          <a:xfrm>
            <a:off x="0" y="0"/>
            <a:ext cx="9141600" cy="58290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5"/>
          <p:cNvSpPr txBox="1"/>
          <p:nvPr/>
        </p:nvSpPr>
        <p:spPr>
          <a:xfrm>
            <a:off x="377190" y="129449"/>
            <a:ext cx="83667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es-419" sz="1800">
                <a:solidFill>
                  <a:srgbClr val="0F172A"/>
                </a:solidFill>
              </a:rPr>
              <a:t>Resultado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5"/>
          <p:cNvSpPr txBox="1"/>
          <p:nvPr/>
        </p:nvSpPr>
        <p:spPr>
          <a:xfrm>
            <a:off x="983400" y="1643744"/>
            <a:ext cx="3233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Sub Bancarizado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5"/>
          <p:cNvSpPr txBox="1"/>
          <p:nvPr/>
        </p:nvSpPr>
        <p:spPr>
          <a:xfrm>
            <a:off x="4701955" y="1643744"/>
            <a:ext cx="4041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Bancarizado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5"/>
          <p:cNvSpPr txBox="1"/>
          <p:nvPr/>
        </p:nvSpPr>
        <p:spPr>
          <a:xfrm>
            <a:off x="377113" y="1828911"/>
            <a:ext cx="525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Edad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5"/>
          <p:cNvSpPr txBox="1"/>
          <p:nvPr/>
        </p:nvSpPr>
        <p:spPr>
          <a:xfrm>
            <a:off x="983400" y="1828911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5"/>
          <p:cNvSpPr txBox="1"/>
          <p:nvPr/>
        </p:nvSpPr>
        <p:spPr>
          <a:xfrm>
            <a:off x="1791781" y="1828911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C3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5"/>
          <p:cNvSpPr txBox="1"/>
          <p:nvPr/>
        </p:nvSpPr>
        <p:spPr>
          <a:xfrm>
            <a:off x="2600163" y="1828911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C2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5"/>
          <p:cNvSpPr txBox="1"/>
          <p:nvPr/>
        </p:nvSpPr>
        <p:spPr>
          <a:xfrm>
            <a:off x="3408545" y="1828911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ABC1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5"/>
          <p:cNvSpPr txBox="1"/>
          <p:nvPr/>
        </p:nvSpPr>
        <p:spPr>
          <a:xfrm>
            <a:off x="4701955" y="1828911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5"/>
          <p:cNvSpPr txBox="1"/>
          <p:nvPr/>
        </p:nvSpPr>
        <p:spPr>
          <a:xfrm>
            <a:off x="5510337" y="1828911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5"/>
          <p:cNvSpPr txBox="1"/>
          <p:nvPr/>
        </p:nvSpPr>
        <p:spPr>
          <a:xfrm>
            <a:off x="6318719" y="1828911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C3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5"/>
          <p:cNvSpPr txBox="1"/>
          <p:nvPr/>
        </p:nvSpPr>
        <p:spPr>
          <a:xfrm>
            <a:off x="7127100" y="1828911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C2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5"/>
          <p:cNvSpPr txBox="1"/>
          <p:nvPr/>
        </p:nvSpPr>
        <p:spPr>
          <a:xfrm>
            <a:off x="7935482" y="1828911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ABC1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5"/>
          <p:cNvSpPr txBox="1"/>
          <p:nvPr/>
        </p:nvSpPr>
        <p:spPr>
          <a:xfrm>
            <a:off x="377113" y="2000361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18-24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5"/>
          <p:cNvSpPr/>
          <p:nvPr/>
        </p:nvSpPr>
        <p:spPr>
          <a:xfrm>
            <a:off x="1007651" y="20175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5"/>
          <p:cNvSpPr txBox="1"/>
          <p:nvPr/>
        </p:nvSpPr>
        <p:spPr>
          <a:xfrm>
            <a:off x="1007651" y="20175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5"/>
          <p:cNvSpPr/>
          <p:nvPr/>
        </p:nvSpPr>
        <p:spPr>
          <a:xfrm>
            <a:off x="1816033" y="20175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5"/>
          <p:cNvSpPr txBox="1"/>
          <p:nvPr/>
        </p:nvSpPr>
        <p:spPr>
          <a:xfrm>
            <a:off x="1816033" y="20175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5"/>
          <p:cNvSpPr/>
          <p:nvPr/>
        </p:nvSpPr>
        <p:spPr>
          <a:xfrm>
            <a:off x="2624414" y="20175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5"/>
          <p:cNvSpPr txBox="1"/>
          <p:nvPr/>
        </p:nvSpPr>
        <p:spPr>
          <a:xfrm>
            <a:off x="2624414" y="20175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5"/>
          <p:cNvSpPr/>
          <p:nvPr/>
        </p:nvSpPr>
        <p:spPr>
          <a:xfrm>
            <a:off x="3432796" y="20175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5"/>
          <p:cNvSpPr txBox="1"/>
          <p:nvPr/>
        </p:nvSpPr>
        <p:spPr>
          <a:xfrm>
            <a:off x="3432796" y="20175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5"/>
          <p:cNvSpPr/>
          <p:nvPr/>
        </p:nvSpPr>
        <p:spPr>
          <a:xfrm>
            <a:off x="4726207" y="20175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5"/>
          <p:cNvSpPr txBox="1"/>
          <p:nvPr/>
        </p:nvSpPr>
        <p:spPr>
          <a:xfrm>
            <a:off x="4726207" y="20175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5"/>
          <p:cNvSpPr/>
          <p:nvPr/>
        </p:nvSpPr>
        <p:spPr>
          <a:xfrm>
            <a:off x="5534588" y="20175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5"/>
          <p:cNvSpPr txBox="1"/>
          <p:nvPr/>
        </p:nvSpPr>
        <p:spPr>
          <a:xfrm>
            <a:off x="5534588" y="20175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5"/>
          <p:cNvSpPr/>
          <p:nvPr/>
        </p:nvSpPr>
        <p:spPr>
          <a:xfrm>
            <a:off x="6342970" y="20175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5"/>
          <p:cNvSpPr txBox="1"/>
          <p:nvPr/>
        </p:nvSpPr>
        <p:spPr>
          <a:xfrm>
            <a:off x="6342970" y="20175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5"/>
          <p:cNvSpPr/>
          <p:nvPr/>
        </p:nvSpPr>
        <p:spPr>
          <a:xfrm>
            <a:off x="7151352" y="20175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5"/>
          <p:cNvSpPr txBox="1"/>
          <p:nvPr/>
        </p:nvSpPr>
        <p:spPr>
          <a:xfrm>
            <a:off x="7151352" y="20175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5"/>
          <p:cNvSpPr/>
          <p:nvPr/>
        </p:nvSpPr>
        <p:spPr>
          <a:xfrm>
            <a:off x="7959733" y="20175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5"/>
          <p:cNvSpPr txBox="1"/>
          <p:nvPr/>
        </p:nvSpPr>
        <p:spPr>
          <a:xfrm>
            <a:off x="7959733" y="20175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5"/>
          <p:cNvSpPr txBox="1"/>
          <p:nvPr/>
        </p:nvSpPr>
        <p:spPr>
          <a:xfrm>
            <a:off x="377113" y="2254108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25-29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5"/>
          <p:cNvSpPr/>
          <p:nvPr/>
        </p:nvSpPr>
        <p:spPr>
          <a:xfrm>
            <a:off x="1007651" y="22712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5"/>
          <p:cNvSpPr txBox="1"/>
          <p:nvPr/>
        </p:nvSpPr>
        <p:spPr>
          <a:xfrm>
            <a:off x="1007651" y="22712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5"/>
          <p:cNvSpPr/>
          <p:nvPr/>
        </p:nvSpPr>
        <p:spPr>
          <a:xfrm>
            <a:off x="1816033" y="22712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5"/>
          <p:cNvSpPr txBox="1"/>
          <p:nvPr/>
        </p:nvSpPr>
        <p:spPr>
          <a:xfrm>
            <a:off x="1816033" y="22712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5"/>
          <p:cNvSpPr/>
          <p:nvPr/>
        </p:nvSpPr>
        <p:spPr>
          <a:xfrm>
            <a:off x="2624414" y="22712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5"/>
          <p:cNvSpPr txBox="1"/>
          <p:nvPr/>
        </p:nvSpPr>
        <p:spPr>
          <a:xfrm>
            <a:off x="2624414" y="22712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5"/>
          <p:cNvSpPr/>
          <p:nvPr/>
        </p:nvSpPr>
        <p:spPr>
          <a:xfrm>
            <a:off x="3432796" y="22712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5"/>
          <p:cNvSpPr txBox="1"/>
          <p:nvPr/>
        </p:nvSpPr>
        <p:spPr>
          <a:xfrm>
            <a:off x="3432796" y="22712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5"/>
          <p:cNvSpPr/>
          <p:nvPr/>
        </p:nvSpPr>
        <p:spPr>
          <a:xfrm>
            <a:off x="4726207" y="22712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5"/>
          <p:cNvSpPr txBox="1"/>
          <p:nvPr/>
        </p:nvSpPr>
        <p:spPr>
          <a:xfrm>
            <a:off x="4726207" y="22712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5"/>
          <p:cNvSpPr/>
          <p:nvPr/>
        </p:nvSpPr>
        <p:spPr>
          <a:xfrm>
            <a:off x="5534588" y="22712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5"/>
          <p:cNvSpPr txBox="1"/>
          <p:nvPr/>
        </p:nvSpPr>
        <p:spPr>
          <a:xfrm>
            <a:off x="5534588" y="22712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5"/>
          <p:cNvSpPr/>
          <p:nvPr/>
        </p:nvSpPr>
        <p:spPr>
          <a:xfrm>
            <a:off x="6342970" y="22712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5"/>
          <p:cNvSpPr txBox="1"/>
          <p:nvPr/>
        </p:nvSpPr>
        <p:spPr>
          <a:xfrm>
            <a:off x="6342970" y="22712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5"/>
          <p:cNvSpPr/>
          <p:nvPr/>
        </p:nvSpPr>
        <p:spPr>
          <a:xfrm>
            <a:off x="7151352" y="22712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5"/>
          <p:cNvSpPr txBox="1"/>
          <p:nvPr/>
        </p:nvSpPr>
        <p:spPr>
          <a:xfrm>
            <a:off x="7151352" y="22712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5"/>
          <p:cNvSpPr/>
          <p:nvPr/>
        </p:nvSpPr>
        <p:spPr>
          <a:xfrm>
            <a:off x="7959733" y="22712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5"/>
          <p:cNvSpPr txBox="1"/>
          <p:nvPr/>
        </p:nvSpPr>
        <p:spPr>
          <a:xfrm>
            <a:off x="7959733" y="22712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5"/>
          <p:cNvSpPr txBox="1"/>
          <p:nvPr/>
        </p:nvSpPr>
        <p:spPr>
          <a:xfrm>
            <a:off x="377113" y="2507855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30-34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5"/>
          <p:cNvSpPr/>
          <p:nvPr/>
        </p:nvSpPr>
        <p:spPr>
          <a:xfrm>
            <a:off x="1007651" y="25250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5"/>
          <p:cNvSpPr txBox="1"/>
          <p:nvPr/>
        </p:nvSpPr>
        <p:spPr>
          <a:xfrm>
            <a:off x="1007651" y="25250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5"/>
          <p:cNvSpPr/>
          <p:nvPr/>
        </p:nvSpPr>
        <p:spPr>
          <a:xfrm>
            <a:off x="1816033" y="25250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5"/>
          <p:cNvSpPr txBox="1"/>
          <p:nvPr/>
        </p:nvSpPr>
        <p:spPr>
          <a:xfrm>
            <a:off x="1816033" y="25250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5"/>
          <p:cNvSpPr/>
          <p:nvPr/>
        </p:nvSpPr>
        <p:spPr>
          <a:xfrm>
            <a:off x="2624414" y="25250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5"/>
          <p:cNvSpPr txBox="1"/>
          <p:nvPr/>
        </p:nvSpPr>
        <p:spPr>
          <a:xfrm>
            <a:off x="2624414" y="25250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5"/>
          <p:cNvSpPr/>
          <p:nvPr/>
        </p:nvSpPr>
        <p:spPr>
          <a:xfrm>
            <a:off x="3432796" y="25250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5"/>
          <p:cNvSpPr txBox="1"/>
          <p:nvPr/>
        </p:nvSpPr>
        <p:spPr>
          <a:xfrm>
            <a:off x="3432796" y="25250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A2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5"/>
          <p:cNvSpPr/>
          <p:nvPr/>
        </p:nvSpPr>
        <p:spPr>
          <a:xfrm>
            <a:off x="4726207" y="25250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5"/>
          <p:cNvSpPr txBox="1"/>
          <p:nvPr/>
        </p:nvSpPr>
        <p:spPr>
          <a:xfrm>
            <a:off x="4726207" y="25250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5"/>
          <p:cNvSpPr/>
          <p:nvPr/>
        </p:nvSpPr>
        <p:spPr>
          <a:xfrm>
            <a:off x="5534588" y="25250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5"/>
          <p:cNvSpPr txBox="1"/>
          <p:nvPr/>
        </p:nvSpPr>
        <p:spPr>
          <a:xfrm>
            <a:off x="5534588" y="25250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5"/>
          <p:cNvSpPr/>
          <p:nvPr/>
        </p:nvSpPr>
        <p:spPr>
          <a:xfrm>
            <a:off x="6342970" y="25250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5"/>
          <p:cNvSpPr txBox="1"/>
          <p:nvPr/>
        </p:nvSpPr>
        <p:spPr>
          <a:xfrm>
            <a:off x="6342970" y="25250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5"/>
          <p:cNvSpPr/>
          <p:nvPr/>
        </p:nvSpPr>
        <p:spPr>
          <a:xfrm>
            <a:off x="7151352" y="25250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5"/>
          <p:cNvSpPr txBox="1"/>
          <p:nvPr/>
        </p:nvSpPr>
        <p:spPr>
          <a:xfrm>
            <a:off x="7151352" y="25250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5"/>
          <p:cNvSpPr/>
          <p:nvPr/>
        </p:nvSpPr>
        <p:spPr>
          <a:xfrm>
            <a:off x="7959733" y="25250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5"/>
          <p:cNvSpPr txBox="1"/>
          <p:nvPr/>
        </p:nvSpPr>
        <p:spPr>
          <a:xfrm>
            <a:off x="7959733" y="25250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5"/>
          <p:cNvSpPr txBox="1"/>
          <p:nvPr/>
        </p:nvSpPr>
        <p:spPr>
          <a:xfrm>
            <a:off x="377113" y="2761602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35-39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5"/>
          <p:cNvSpPr/>
          <p:nvPr/>
        </p:nvSpPr>
        <p:spPr>
          <a:xfrm>
            <a:off x="1007651" y="27787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5"/>
          <p:cNvSpPr txBox="1"/>
          <p:nvPr/>
        </p:nvSpPr>
        <p:spPr>
          <a:xfrm>
            <a:off x="1007651" y="27787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5"/>
          <p:cNvSpPr/>
          <p:nvPr/>
        </p:nvSpPr>
        <p:spPr>
          <a:xfrm>
            <a:off x="1816033" y="27787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5"/>
          <p:cNvSpPr txBox="1"/>
          <p:nvPr/>
        </p:nvSpPr>
        <p:spPr>
          <a:xfrm>
            <a:off x="1816033" y="27787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5"/>
          <p:cNvSpPr/>
          <p:nvPr/>
        </p:nvSpPr>
        <p:spPr>
          <a:xfrm>
            <a:off x="2624414" y="27787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5"/>
          <p:cNvSpPr txBox="1"/>
          <p:nvPr/>
        </p:nvSpPr>
        <p:spPr>
          <a:xfrm>
            <a:off x="2624414" y="27787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5"/>
          <p:cNvSpPr/>
          <p:nvPr/>
        </p:nvSpPr>
        <p:spPr>
          <a:xfrm>
            <a:off x="3432796" y="27787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5"/>
          <p:cNvSpPr txBox="1"/>
          <p:nvPr/>
        </p:nvSpPr>
        <p:spPr>
          <a:xfrm>
            <a:off x="3432796" y="27787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A2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5"/>
          <p:cNvSpPr/>
          <p:nvPr/>
        </p:nvSpPr>
        <p:spPr>
          <a:xfrm>
            <a:off x="4726207" y="27787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5"/>
          <p:cNvSpPr txBox="1"/>
          <p:nvPr/>
        </p:nvSpPr>
        <p:spPr>
          <a:xfrm>
            <a:off x="4726207" y="27787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5"/>
          <p:cNvSpPr/>
          <p:nvPr/>
        </p:nvSpPr>
        <p:spPr>
          <a:xfrm>
            <a:off x="5534588" y="27787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5"/>
          <p:cNvSpPr txBox="1"/>
          <p:nvPr/>
        </p:nvSpPr>
        <p:spPr>
          <a:xfrm>
            <a:off x="5534588" y="27787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5"/>
          <p:cNvSpPr/>
          <p:nvPr/>
        </p:nvSpPr>
        <p:spPr>
          <a:xfrm>
            <a:off x="6342970" y="27787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5"/>
          <p:cNvSpPr txBox="1"/>
          <p:nvPr/>
        </p:nvSpPr>
        <p:spPr>
          <a:xfrm>
            <a:off x="6342970" y="27787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5"/>
          <p:cNvSpPr/>
          <p:nvPr/>
        </p:nvSpPr>
        <p:spPr>
          <a:xfrm>
            <a:off x="7151352" y="27787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5"/>
          <p:cNvSpPr txBox="1"/>
          <p:nvPr/>
        </p:nvSpPr>
        <p:spPr>
          <a:xfrm>
            <a:off x="7151352" y="27787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5"/>
          <p:cNvSpPr/>
          <p:nvPr/>
        </p:nvSpPr>
        <p:spPr>
          <a:xfrm>
            <a:off x="7959733" y="27787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5"/>
          <p:cNvSpPr txBox="1"/>
          <p:nvPr/>
        </p:nvSpPr>
        <p:spPr>
          <a:xfrm>
            <a:off x="7959733" y="27787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5"/>
          <p:cNvSpPr txBox="1"/>
          <p:nvPr/>
        </p:nvSpPr>
        <p:spPr>
          <a:xfrm>
            <a:off x="377113" y="3015349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40-44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5"/>
          <p:cNvSpPr/>
          <p:nvPr/>
        </p:nvSpPr>
        <p:spPr>
          <a:xfrm>
            <a:off x="1007651" y="30324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5"/>
          <p:cNvSpPr txBox="1"/>
          <p:nvPr/>
        </p:nvSpPr>
        <p:spPr>
          <a:xfrm>
            <a:off x="1007651" y="30324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5"/>
          <p:cNvSpPr/>
          <p:nvPr/>
        </p:nvSpPr>
        <p:spPr>
          <a:xfrm>
            <a:off x="1816033" y="30324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5"/>
          <p:cNvSpPr txBox="1"/>
          <p:nvPr/>
        </p:nvSpPr>
        <p:spPr>
          <a:xfrm>
            <a:off x="1816033" y="30324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5"/>
          <p:cNvSpPr/>
          <p:nvPr/>
        </p:nvSpPr>
        <p:spPr>
          <a:xfrm>
            <a:off x="2624414" y="30324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5"/>
          <p:cNvSpPr txBox="1"/>
          <p:nvPr/>
        </p:nvSpPr>
        <p:spPr>
          <a:xfrm>
            <a:off x="2624414" y="30324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5"/>
          <p:cNvSpPr/>
          <p:nvPr/>
        </p:nvSpPr>
        <p:spPr>
          <a:xfrm>
            <a:off x="3432796" y="30324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5"/>
          <p:cNvSpPr txBox="1"/>
          <p:nvPr/>
        </p:nvSpPr>
        <p:spPr>
          <a:xfrm>
            <a:off x="3432796" y="30324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A2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5"/>
          <p:cNvSpPr/>
          <p:nvPr/>
        </p:nvSpPr>
        <p:spPr>
          <a:xfrm>
            <a:off x="4726207" y="30324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5"/>
          <p:cNvSpPr txBox="1"/>
          <p:nvPr/>
        </p:nvSpPr>
        <p:spPr>
          <a:xfrm>
            <a:off x="4726207" y="30324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5"/>
          <p:cNvSpPr/>
          <p:nvPr/>
        </p:nvSpPr>
        <p:spPr>
          <a:xfrm>
            <a:off x="5534588" y="30324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5"/>
          <p:cNvSpPr txBox="1"/>
          <p:nvPr/>
        </p:nvSpPr>
        <p:spPr>
          <a:xfrm>
            <a:off x="5534588" y="30324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5"/>
          <p:cNvSpPr/>
          <p:nvPr/>
        </p:nvSpPr>
        <p:spPr>
          <a:xfrm>
            <a:off x="6342970" y="30324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5"/>
          <p:cNvSpPr txBox="1"/>
          <p:nvPr/>
        </p:nvSpPr>
        <p:spPr>
          <a:xfrm>
            <a:off x="6342970" y="30324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5"/>
          <p:cNvSpPr/>
          <p:nvPr/>
        </p:nvSpPr>
        <p:spPr>
          <a:xfrm>
            <a:off x="7151352" y="30324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5"/>
          <p:cNvSpPr txBox="1"/>
          <p:nvPr/>
        </p:nvSpPr>
        <p:spPr>
          <a:xfrm>
            <a:off x="7151352" y="30324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5"/>
          <p:cNvSpPr/>
          <p:nvPr/>
        </p:nvSpPr>
        <p:spPr>
          <a:xfrm>
            <a:off x="7959733" y="30324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5"/>
          <p:cNvSpPr txBox="1"/>
          <p:nvPr/>
        </p:nvSpPr>
        <p:spPr>
          <a:xfrm>
            <a:off x="7959733" y="30324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5"/>
          <p:cNvSpPr txBox="1"/>
          <p:nvPr/>
        </p:nvSpPr>
        <p:spPr>
          <a:xfrm>
            <a:off x="377113" y="3269096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45-49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5"/>
          <p:cNvSpPr/>
          <p:nvPr/>
        </p:nvSpPr>
        <p:spPr>
          <a:xfrm>
            <a:off x="1007651" y="3286241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5"/>
          <p:cNvSpPr txBox="1"/>
          <p:nvPr/>
        </p:nvSpPr>
        <p:spPr>
          <a:xfrm>
            <a:off x="1007651" y="3286241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501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5"/>
          <p:cNvSpPr/>
          <p:nvPr/>
        </p:nvSpPr>
        <p:spPr>
          <a:xfrm>
            <a:off x="1816033" y="3286241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5"/>
          <p:cNvSpPr txBox="1"/>
          <p:nvPr/>
        </p:nvSpPr>
        <p:spPr>
          <a:xfrm>
            <a:off x="1816033" y="3286241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501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5"/>
          <p:cNvSpPr/>
          <p:nvPr/>
        </p:nvSpPr>
        <p:spPr>
          <a:xfrm>
            <a:off x="2624414" y="3286241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5"/>
          <p:cNvSpPr txBox="1"/>
          <p:nvPr/>
        </p:nvSpPr>
        <p:spPr>
          <a:xfrm>
            <a:off x="2624414" y="3286241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501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5"/>
          <p:cNvSpPr/>
          <p:nvPr/>
        </p:nvSpPr>
        <p:spPr>
          <a:xfrm>
            <a:off x="3432796" y="3286241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5"/>
          <p:cNvSpPr txBox="1"/>
          <p:nvPr/>
        </p:nvSpPr>
        <p:spPr>
          <a:xfrm>
            <a:off x="3432796" y="3286241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A2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5"/>
          <p:cNvSpPr/>
          <p:nvPr/>
        </p:nvSpPr>
        <p:spPr>
          <a:xfrm>
            <a:off x="4726207" y="3286241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5"/>
          <p:cNvSpPr txBox="1"/>
          <p:nvPr/>
        </p:nvSpPr>
        <p:spPr>
          <a:xfrm>
            <a:off x="4726207" y="3286241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5"/>
          <p:cNvSpPr/>
          <p:nvPr/>
        </p:nvSpPr>
        <p:spPr>
          <a:xfrm>
            <a:off x="5534588" y="3286241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5"/>
          <p:cNvSpPr txBox="1"/>
          <p:nvPr/>
        </p:nvSpPr>
        <p:spPr>
          <a:xfrm>
            <a:off x="5534588" y="3286241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5"/>
          <p:cNvSpPr/>
          <p:nvPr/>
        </p:nvSpPr>
        <p:spPr>
          <a:xfrm>
            <a:off x="6342970" y="3286241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5"/>
          <p:cNvSpPr txBox="1"/>
          <p:nvPr/>
        </p:nvSpPr>
        <p:spPr>
          <a:xfrm>
            <a:off x="6342970" y="3286241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5"/>
          <p:cNvSpPr/>
          <p:nvPr/>
        </p:nvSpPr>
        <p:spPr>
          <a:xfrm>
            <a:off x="7151352" y="3286241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5"/>
          <p:cNvSpPr txBox="1"/>
          <p:nvPr/>
        </p:nvSpPr>
        <p:spPr>
          <a:xfrm>
            <a:off x="7151352" y="3286241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5"/>
          <p:cNvSpPr/>
          <p:nvPr/>
        </p:nvSpPr>
        <p:spPr>
          <a:xfrm>
            <a:off x="7959733" y="3286241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5"/>
          <p:cNvSpPr txBox="1"/>
          <p:nvPr/>
        </p:nvSpPr>
        <p:spPr>
          <a:xfrm>
            <a:off x="7959733" y="3286241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5"/>
          <p:cNvSpPr txBox="1"/>
          <p:nvPr/>
        </p:nvSpPr>
        <p:spPr>
          <a:xfrm>
            <a:off x="377113" y="3522843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50-54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5"/>
          <p:cNvSpPr/>
          <p:nvPr/>
        </p:nvSpPr>
        <p:spPr>
          <a:xfrm>
            <a:off x="1007651" y="3539988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5"/>
          <p:cNvSpPr txBox="1"/>
          <p:nvPr/>
        </p:nvSpPr>
        <p:spPr>
          <a:xfrm>
            <a:off x="1007651" y="3539988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501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5"/>
          <p:cNvSpPr/>
          <p:nvPr/>
        </p:nvSpPr>
        <p:spPr>
          <a:xfrm>
            <a:off x="1816033" y="3539988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5"/>
          <p:cNvSpPr txBox="1"/>
          <p:nvPr/>
        </p:nvSpPr>
        <p:spPr>
          <a:xfrm>
            <a:off x="1816033" y="3539988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501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5"/>
          <p:cNvSpPr/>
          <p:nvPr/>
        </p:nvSpPr>
        <p:spPr>
          <a:xfrm>
            <a:off x="2624414" y="3539988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5"/>
          <p:cNvSpPr txBox="1"/>
          <p:nvPr/>
        </p:nvSpPr>
        <p:spPr>
          <a:xfrm>
            <a:off x="2624414" y="3539988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501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5"/>
          <p:cNvSpPr/>
          <p:nvPr/>
        </p:nvSpPr>
        <p:spPr>
          <a:xfrm>
            <a:off x="3432796" y="3539988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5"/>
          <p:cNvSpPr txBox="1"/>
          <p:nvPr/>
        </p:nvSpPr>
        <p:spPr>
          <a:xfrm>
            <a:off x="3432796" y="3539988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A2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5"/>
          <p:cNvSpPr/>
          <p:nvPr/>
        </p:nvSpPr>
        <p:spPr>
          <a:xfrm>
            <a:off x="4726207" y="3539988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5"/>
          <p:cNvSpPr txBox="1"/>
          <p:nvPr/>
        </p:nvSpPr>
        <p:spPr>
          <a:xfrm>
            <a:off x="4726207" y="3539988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5"/>
          <p:cNvSpPr/>
          <p:nvPr/>
        </p:nvSpPr>
        <p:spPr>
          <a:xfrm>
            <a:off x="5534588" y="3539988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5"/>
          <p:cNvSpPr txBox="1"/>
          <p:nvPr/>
        </p:nvSpPr>
        <p:spPr>
          <a:xfrm>
            <a:off x="5534588" y="3539988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5"/>
          <p:cNvSpPr/>
          <p:nvPr/>
        </p:nvSpPr>
        <p:spPr>
          <a:xfrm>
            <a:off x="6342970" y="3539988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5"/>
          <p:cNvSpPr txBox="1"/>
          <p:nvPr/>
        </p:nvSpPr>
        <p:spPr>
          <a:xfrm>
            <a:off x="6342970" y="3539988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5"/>
          <p:cNvSpPr/>
          <p:nvPr/>
        </p:nvSpPr>
        <p:spPr>
          <a:xfrm>
            <a:off x="7151352" y="3539988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5"/>
          <p:cNvSpPr txBox="1"/>
          <p:nvPr/>
        </p:nvSpPr>
        <p:spPr>
          <a:xfrm>
            <a:off x="7151352" y="3539988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5"/>
          <p:cNvSpPr/>
          <p:nvPr/>
        </p:nvSpPr>
        <p:spPr>
          <a:xfrm>
            <a:off x="7959733" y="3539988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5"/>
          <p:cNvSpPr txBox="1"/>
          <p:nvPr/>
        </p:nvSpPr>
        <p:spPr>
          <a:xfrm>
            <a:off x="7959733" y="3539988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5"/>
          <p:cNvSpPr txBox="1"/>
          <p:nvPr/>
        </p:nvSpPr>
        <p:spPr>
          <a:xfrm>
            <a:off x="388615" y="6181390"/>
            <a:ext cx="83667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Fuente: Panel Equifax Chile. Universo: 18 a 54 años, excluye E Sub Bancarizado.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26"/>
          <p:cNvSpPr/>
          <p:nvPr/>
        </p:nvSpPr>
        <p:spPr>
          <a:xfrm>
            <a:off x="0" y="0"/>
            <a:ext cx="9141714" cy="58293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26"/>
          <p:cNvSpPr txBox="1"/>
          <p:nvPr/>
        </p:nvSpPr>
        <p:spPr>
          <a:xfrm>
            <a:off x="377190" y="82296"/>
            <a:ext cx="83667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es-419" sz="1800">
                <a:solidFill>
                  <a:srgbClr val="0F172A"/>
                </a:solidFill>
              </a:rPr>
              <a:t>Características</a:t>
            </a:r>
            <a:r>
              <a:rPr b="1" lang="es-419" sz="1800">
                <a:solidFill>
                  <a:srgbClr val="0F172A"/>
                </a:solidFill>
              </a:rPr>
              <a:t> por perfil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39" name="Google Shape;839;p26"/>
          <p:cNvGraphicFramePr/>
          <p:nvPr/>
        </p:nvGraphicFramePr>
        <p:xfrm>
          <a:off x="377208" y="14788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{450DAB85-EDE7-4531-B560-F2E11D1F1786}</a:tableStyleId>
              </a:tblPr>
              <a:tblGrid>
                <a:gridCol w="343400"/>
                <a:gridCol w="1592175"/>
                <a:gridCol w="1623400"/>
                <a:gridCol w="1436100"/>
                <a:gridCol w="1685850"/>
                <a:gridCol w="1685850"/>
              </a:tblGrid>
              <a:tr h="23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Perfil</a:t>
                      </a:r>
                      <a:endParaRPr sz="8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1B1B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crediticia</a:t>
                      </a:r>
                      <a:endParaRPr sz="8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400E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Clasificación</a:t>
                      </a:r>
                      <a:endParaRPr sz="8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6534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económico</a:t>
                      </a:r>
                      <a:endParaRPr sz="8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6534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>
                          <a:solidFill>
                            <a:srgbClr val="3A3838"/>
                          </a:solidFill>
                        </a:rPr>
                        <a:t>Descripción</a:t>
                      </a:r>
                      <a:endParaRPr b="1" sz="8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501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6B5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F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sólida ·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a D SB · 45-54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736 · Mora 7.6%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Buen pagador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$740k ·</a:t>
                      </a: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Pat. $8.8M</a:t>
                      </a:r>
                      <a:endParaRPr sz="800" u="none" cap="none" strike="noStrike">
                        <a:solidFill>
                          <a:srgbClr val="991B1B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medio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800"/>
                        <a:t>Adultos con respaldo medio sin acceso al </a:t>
                      </a:r>
                      <a:r>
                        <a:rPr lang="es-419" sz="800"/>
                        <a:t>crédito</a:t>
                      </a:r>
                      <a:endParaRPr sz="800"/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2F25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7F2F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P2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B9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frágil ·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a D SB · 30-44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579 · </a:t>
                      </a: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Mora 14.1%</a:t>
                      </a:r>
                      <a:endParaRPr sz="800" u="none" cap="none" strike="noStrike">
                        <a:solidFill>
                          <a:srgbClr val="991B1B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bajo, mora creciente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$670k</a:t>
                      </a: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· Pat. $2.3M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800"/>
                        <a:t>Adultos </a:t>
                      </a:r>
                      <a:r>
                        <a:rPr lang="es-419" sz="800"/>
                        <a:t>jóvenes</a:t>
                      </a:r>
                      <a:r>
                        <a:rPr lang="es-419" sz="800"/>
                        <a:t> con mora creciente y bajo respaldo</a:t>
                      </a:r>
                      <a:endParaRPr sz="800"/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E79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P3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débil · B/SB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a E · 18-34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573 · </a:t>
                      </a: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Mora 26.5%</a:t>
                      </a:r>
                      <a:endParaRPr sz="800" u="none" cap="none" strike="noStrike">
                        <a:solidFill>
                          <a:srgbClr val="991B1B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bajo, mora alta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Mixto B y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8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$850k</a:t>
                      </a: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· Pat. $2.7M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800"/>
                        <a:t>Jóvenes con mora alta y respaldo bajo</a:t>
                      </a:r>
                      <a:endParaRPr sz="800"/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5E5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E5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D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tensionada · 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a E B · 35-54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706 · </a:t>
                      </a: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Mora 42.2%</a:t>
                      </a:r>
                      <a:endParaRPr sz="800" u="none" cap="none" strike="noStrike">
                        <a:solidFill>
                          <a:srgbClr val="991B1B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medio, mora muy alta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3.4% deuda comercial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$970k · Pat. $10.6M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medio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800"/>
                        <a:t>Adultos jóvenes y adultos con mora muy alta y respaldo medio</a:t>
                      </a:r>
                      <a:endParaRPr sz="800"/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2E6E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4B2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P5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B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emergente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ABC1-C2 · 18-29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570 · Mora 5.3%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Poco historial, mora baja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Recién ingresando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$1.03M · Pat. $3.4M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</a:rPr>
                        <a:t>Respaldo emergente</a:t>
                      </a:r>
                      <a:endParaRPr b="1" sz="800" u="none" cap="none" strike="noStrike">
                        <a:solidFill>
                          <a:srgbClr val="991B1B"/>
                        </a:solidFill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800"/>
                        <a:t>Jovenes con poco acceso al </a:t>
                      </a:r>
                      <a:r>
                        <a:rPr lang="es-419" sz="800"/>
                        <a:t>crédito</a:t>
                      </a:r>
                      <a:r>
                        <a:rPr lang="es-419" sz="800"/>
                        <a:t> posiblemente por falta de necesidad</a:t>
                      </a:r>
                      <a:endParaRPr sz="800"/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68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F3A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P6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BC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 · 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ABC1-C2 B · 30-54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760 · Mora 19.2%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alto, mora moderada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10% deuda comercial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8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$1.97M · Pat. $91.1M</a:t>
                      </a:r>
                      <a:endParaRPr sz="800" u="none" cap="none" strike="noStrike">
                        <a:solidFill>
                          <a:srgbClr val="98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800"/>
                        <a:t>Adultos con alto respaldo y con mora moderada</a:t>
                      </a:r>
                      <a:endParaRPr sz="800"/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4A2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5C4A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P7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C7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 ·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30-54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789 </a:t>
                      </a: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· Mora 9.5%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Mejor score del universo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$1.29M · Pat. $79.1M</a:t>
                      </a:r>
                      <a:endParaRPr sz="800" u="none" cap="none" strike="noStrike">
                        <a:solidFill>
                          <a:srgbClr val="991B1B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800"/>
                        <a:t>Adultos con alto respaldo y mora baja</a:t>
                      </a:r>
                      <a:endParaRPr sz="800"/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27"/>
          <p:cNvSpPr/>
          <p:nvPr/>
        </p:nvSpPr>
        <p:spPr>
          <a:xfrm>
            <a:off x="0" y="0"/>
            <a:ext cx="9141714" cy="58293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7"/>
          <p:cNvSpPr txBox="1"/>
          <p:nvPr/>
        </p:nvSpPr>
        <p:spPr>
          <a:xfrm>
            <a:off x="377190" y="82296"/>
            <a:ext cx="83667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es-419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Los 7 perfiles resultantes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7"/>
          <p:cNvSpPr txBox="1"/>
          <p:nvPr/>
        </p:nvSpPr>
        <p:spPr>
          <a:xfrm>
            <a:off x="377190" y="370332"/>
            <a:ext cx="8366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s-419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El nombre de cada perfil resume sus 3 dimensiones: salud · clasificación · respaldo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48" name="Google Shape;848;p27"/>
          <p:cNvGraphicFramePr/>
          <p:nvPr/>
        </p:nvGraphicFramePr>
        <p:xfrm>
          <a:off x="1004224" y="7267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{450DAB85-EDE7-4531-B560-F2E11D1F1786}</a:tableStyleId>
              </a:tblPr>
              <a:tblGrid>
                <a:gridCol w="377175"/>
                <a:gridCol w="1748775"/>
                <a:gridCol w="1783075"/>
                <a:gridCol w="1577325"/>
                <a:gridCol w="1851650"/>
              </a:tblGrid>
              <a:tr h="23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Perfil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1B1B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crediticia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400E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240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Clasificación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6534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económico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CE7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501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6B5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F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sólida ·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a D SB · 45-54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736 · Mora 7.6%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Buen pagador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$740k · Pat. $8.8M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medio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2F25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7F2F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P2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B9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frágil ·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a D SB · 30-44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579 · Mora 14.1%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bajo, mora creciente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$670k · Pat. $2.3M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E79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P3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débil · B/SB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a E · 18-34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573 · Mora 26.5%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bajo, mora alta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Mixto B y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$850k · Pat. $2.7M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5E5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E5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D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tensionada · 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a E B · 35-54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706 · Mora 42.2%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medio, mora muy alta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3.4% deuda comercial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$970k · Pat. $10.6M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medio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2E6E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4B2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P5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B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emergente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ABC1-C2 · 18-29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570 · Mora 5.3%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Poco historial, mora baja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Recién ingresando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$1.03M · Pat. $3.4M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emergente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68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F3A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P6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BC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 · 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ABC1-C2 B · 30-54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760 · Mora 19.2%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alto, mora moderada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10% deuda comercial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$1.97M · Pat. $91.1M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4A2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5C4A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P7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C7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 ·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30-54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789 · Mora 9.5%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Mejor score del universo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$1.29M · Pat. $79.1M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49" name="Google Shape;849;p27"/>
          <p:cNvSpPr txBox="1"/>
          <p:nvPr/>
        </p:nvSpPr>
        <p:spPr>
          <a:xfrm>
            <a:off x="377190" y="3380994"/>
            <a:ext cx="838733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Arial"/>
              <a:buNone/>
            </a:pPr>
            <a:r>
              <a:rPr b="1" lang="es-419" sz="9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¿Por qué una celda queda en un perfil y no en otro?</a:t>
            </a:r>
            <a:r>
              <a:rPr lang="es-419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 Funciona como asignar comunas a la sucursal más cercana.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7"/>
          <p:cNvSpPr/>
          <p:nvPr/>
        </p:nvSpPr>
        <p:spPr>
          <a:xfrm>
            <a:off x="377190" y="3669030"/>
            <a:ext cx="3154680" cy="1110996"/>
          </a:xfrm>
          <a:prstGeom prst="roundRect">
            <a:avLst>
              <a:gd fmla="val 4938" name="adj"/>
            </a:avLst>
          </a:prstGeom>
          <a:solidFill>
            <a:srgbClr val="F8FA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1" name="Google Shape;851;p27"/>
          <p:cNvCxnSpPr/>
          <p:nvPr/>
        </p:nvCxnSpPr>
        <p:spPr>
          <a:xfrm>
            <a:off x="617220" y="3874770"/>
            <a:ext cx="480060" cy="32918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2" name="Google Shape;852;p27"/>
          <p:cNvCxnSpPr/>
          <p:nvPr/>
        </p:nvCxnSpPr>
        <p:spPr>
          <a:xfrm flipH="1">
            <a:off x="754380" y="4203954"/>
            <a:ext cx="342900" cy="25374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3" name="Google Shape;853;p27"/>
          <p:cNvCxnSpPr/>
          <p:nvPr/>
        </p:nvCxnSpPr>
        <p:spPr>
          <a:xfrm>
            <a:off x="994410" y="3909060"/>
            <a:ext cx="102870" cy="29489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4" name="Google Shape;854;p27"/>
          <p:cNvCxnSpPr/>
          <p:nvPr/>
        </p:nvCxnSpPr>
        <p:spPr>
          <a:xfrm>
            <a:off x="1097280" y="4203954"/>
            <a:ext cx="274320" cy="20574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5" name="Google Shape;855;p27"/>
          <p:cNvCxnSpPr/>
          <p:nvPr/>
        </p:nvCxnSpPr>
        <p:spPr>
          <a:xfrm flipH="1">
            <a:off x="1097280" y="3840480"/>
            <a:ext cx="445770" cy="36347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6" name="Google Shape;856;p27"/>
          <p:cNvCxnSpPr/>
          <p:nvPr/>
        </p:nvCxnSpPr>
        <p:spPr>
          <a:xfrm>
            <a:off x="1097280" y="4203954"/>
            <a:ext cx="617220" cy="11658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7" name="Google Shape;857;p27"/>
          <p:cNvCxnSpPr/>
          <p:nvPr/>
        </p:nvCxnSpPr>
        <p:spPr>
          <a:xfrm flipH="1">
            <a:off x="1097280" y="4011930"/>
            <a:ext cx="754380" cy="1920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8" name="Google Shape;858;p27"/>
          <p:cNvCxnSpPr/>
          <p:nvPr/>
        </p:nvCxnSpPr>
        <p:spPr>
          <a:xfrm flipH="1">
            <a:off x="2057400" y="4203954"/>
            <a:ext cx="754380" cy="32232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9" name="Google Shape;859;p27"/>
          <p:cNvCxnSpPr/>
          <p:nvPr/>
        </p:nvCxnSpPr>
        <p:spPr>
          <a:xfrm>
            <a:off x="2263140" y="4025646"/>
            <a:ext cx="548640" cy="178308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0" name="Google Shape;860;p27"/>
          <p:cNvCxnSpPr/>
          <p:nvPr/>
        </p:nvCxnSpPr>
        <p:spPr>
          <a:xfrm flipH="1">
            <a:off x="2366010" y="4203954"/>
            <a:ext cx="445770" cy="4800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1" name="Google Shape;861;p27"/>
          <p:cNvCxnSpPr/>
          <p:nvPr/>
        </p:nvCxnSpPr>
        <p:spPr>
          <a:xfrm flipH="1">
            <a:off x="2674620" y="4203954"/>
            <a:ext cx="137160" cy="35661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2" name="Google Shape;862;p27"/>
          <p:cNvCxnSpPr/>
          <p:nvPr/>
        </p:nvCxnSpPr>
        <p:spPr>
          <a:xfrm flipH="1">
            <a:off x="2811780" y="3874770"/>
            <a:ext cx="34290" cy="32918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3" name="Google Shape;863;p27"/>
          <p:cNvCxnSpPr/>
          <p:nvPr/>
        </p:nvCxnSpPr>
        <p:spPr>
          <a:xfrm flipH="1">
            <a:off x="2811780" y="4080510"/>
            <a:ext cx="342900" cy="12344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4" name="Google Shape;864;p27"/>
          <p:cNvCxnSpPr/>
          <p:nvPr/>
        </p:nvCxnSpPr>
        <p:spPr>
          <a:xfrm>
            <a:off x="2811780" y="4203954"/>
            <a:ext cx="445770" cy="28803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5" name="Google Shape;865;p27"/>
          <p:cNvCxnSpPr/>
          <p:nvPr/>
        </p:nvCxnSpPr>
        <p:spPr>
          <a:xfrm flipH="1">
            <a:off x="2434590" y="4203954"/>
            <a:ext cx="377190" cy="39090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6" name="Google Shape;866;p27"/>
          <p:cNvCxnSpPr/>
          <p:nvPr/>
        </p:nvCxnSpPr>
        <p:spPr>
          <a:xfrm>
            <a:off x="1954530" y="3737610"/>
            <a:ext cx="0" cy="973836"/>
          </a:xfrm>
          <a:prstGeom prst="straightConnector1">
            <a:avLst/>
          </a:prstGeom>
          <a:noFill/>
          <a:ln cap="flat" cmpd="sng" w="15875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67" name="Google Shape;867;p27"/>
          <p:cNvSpPr txBox="1"/>
          <p:nvPr/>
        </p:nvSpPr>
        <p:spPr>
          <a:xfrm>
            <a:off x="754380" y="4560570"/>
            <a:ext cx="114528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i="1" lang="es-419" sz="6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frontera: mitad de camino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7"/>
          <p:cNvSpPr/>
          <p:nvPr/>
        </p:nvSpPr>
        <p:spPr>
          <a:xfrm>
            <a:off x="569214" y="3826764"/>
            <a:ext cx="96012" cy="96012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7"/>
          <p:cNvSpPr/>
          <p:nvPr/>
        </p:nvSpPr>
        <p:spPr>
          <a:xfrm>
            <a:off x="706374" y="4409694"/>
            <a:ext cx="96012" cy="96012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27"/>
          <p:cNvSpPr/>
          <p:nvPr/>
        </p:nvSpPr>
        <p:spPr>
          <a:xfrm>
            <a:off x="946404" y="3861054"/>
            <a:ext cx="96012" cy="96012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7"/>
          <p:cNvSpPr/>
          <p:nvPr/>
        </p:nvSpPr>
        <p:spPr>
          <a:xfrm>
            <a:off x="1323594" y="4361688"/>
            <a:ext cx="96012" cy="96012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7"/>
          <p:cNvSpPr/>
          <p:nvPr/>
        </p:nvSpPr>
        <p:spPr>
          <a:xfrm>
            <a:off x="1495044" y="3792474"/>
            <a:ext cx="96012" cy="96012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7"/>
          <p:cNvSpPr/>
          <p:nvPr/>
        </p:nvSpPr>
        <p:spPr>
          <a:xfrm>
            <a:off x="1666494" y="4272534"/>
            <a:ext cx="96012" cy="96012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7"/>
          <p:cNvSpPr/>
          <p:nvPr/>
        </p:nvSpPr>
        <p:spPr>
          <a:xfrm>
            <a:off x="1803654" y="3963924"/>
            <a:ext cx="96012" cy="96012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7"/>
          <p:cNvSpPr/>
          <p:nvPr/>
        </p:nvSpPr>
        <p:spPr>
          <a:xfrm>
            <a:off x="2009394" y="4478274"/>
            <a:ext cx="96012" cy="96012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7"/>
          <p:cNvSpPr/>
          <p:nvPr/>
        </p:nvSpPr>
        <p:spPr>
          <a:xfrm>
            <a:off x="2215134" y="3977640"/>
            <a:ext cx="96012" cy="96012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7"/>
          <p:cNvSpPr/>
          <p:nvPr/>
        </p:nvSpPr>
        <p:spPr>
          <a:xfrm>
            <a:off x="2318004" y="4203954"/>
            <a:ext cx="96012" cy="96012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7"/>
          <p:cNvSpPr/>
          <p:nvPr/>
        </p:nvSpPr>
        <p:spPr>
          <a:xfrm>
            <a:off x="2626614" y="4512564"/>
            <a:ext cx="96012" cy="96012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7"/>
          <p:cNvSpPr/>
          <p:nvPr/>
        </p:nvSpPr>
        <p:spPr>
          <a:xfrm>
            <a:off x="2798064" y="3826764"/>
            <a:ext cx="96012" cy="96012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7"/>
          <p:cNvSpPr/>
          <p:nvPr/>
        </p:nvSpPr>
        <p:spPr>
          <a:xfrm>
            <a:off x="3106674" y="4032504"/>
            <a:ext cx="96012" cy="96012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7"/>
          <p:cNvSpPr/>
          <p:nvPr/>
        </p:nvSpPr>
        <p:spPr>
          <a:xfrm>
            <a:off x="3209544" y="4443984"/>
            <a:ext cx="96012" cy="96012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7"/>
          <p:cNvSpPr/>
          <p:nvPr/>
        </p:nvSpPr>
        <p:spPr>
          <a:xfrm>
            <a:off x="2386584" y="4546854"/>
            <a:ext cx="96012" cy="96012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7"/>
          <p:cNvSpPr/>
          <p:nvPr/>
        </p:nvSpPr>
        <p:spPr>
          <a:xfrm>
            <a:off x="925830" y="4032504"/>
            <a:ext cx="342900" cy="342900"/>
          </a:xfrm>
          <a:prstGeom prst="ellipse">
            <a:avLst/>
          </a:prstGeom>
          <a:solidFill>
            <a:srgbClr val="A8BCE0"/>
          </a:solidFill>
          <a:ln cap="flat" cmpd="sng" w="19050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7"/>
          <p:cNvSpPr txBox="1"/>
          <p:nvPr/>
        </p:nvSpPr>
        <p:spPr>
          <a:xfrm>
            <a:off x="925830" y="4032504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7"/>
          <p:cNvSpPr/>
          <p:nvPr/>
        </p:nvSpPr>
        <p:spPr>
          <a:xfrm>
            <a:off x="2640330" y="4032504"/>
            <a:ext cx="342900" cy="342900"/>
          </a:xfrm>
          <a:prstGeom prst="ellipse">
            <a:avLst/>
          </a:prstGeom>
          <a:solidFill>
            <a:srgbClr val="A9D6CC"/>
          </a:solidFill>
          <a:ln cap="flat" cmpd="sng" w="19050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27"/>
          <p:cNvSpPr txBox="1"/>
          <p:nvPr/>
        </p:nvSpPr>
        <p:spPr>
          <a:xfrm>
            <a:off x="2640330" y="4032504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7"/>
          <p:cNvSpPr/>
          <p:nvPr/>
        </p:nvSpPr>
        <p:spPr>
          <a:xfrm>
            <a:off x="3737610" y="3669030"/>
            <a:ext cx="5026914" cy="257175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7"/>
          <p:cNvSpPr txBox="1"/>
          <p:nvPr/>
        </p:nvSpPr>
        <p:spPr>
          <a:xfrm>
            <a:off x="3819906" y="3669030"/>
            <a:ext cx="685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s-419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Comuna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7"/>
          <p:cNvSpPr txBox="1"/>
          <p:nvPr/>
        </p:nvSpPr>
        <p:spPr>
          <a:xfrm>
            <a:off x="4491990" y="3669030"/>
            <a:ext cx="20574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7"/>
          <p:cNvSpPr txBox="1"/>
          <p:nvPr/>
        </p:nvSpPr>
        <p:spPr>
          <a:xfrm>
            <a:off x="4732020" y="3669030"/>
            <a:ext cx="396392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Celda: </a:t>
            </a:r>
            <a:r>
              <a:rPr lang="es-419" sz="8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un grupo de edad, GSE y bancarización (ej: C2 bancarizado de 35-39)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7"/>
          <p:cNvSpPr/>
          <p:nvPr/>
        </p:nvSpPr>
        <p:spPr>
          <a:xfrm>
            <a:off x="3737610" y="3946779"/>
            <a:ext cx="5026914" cy="2571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7"/>
          <p:cNvSpPr txBox="1"/>
          <p:nvPr/>
        </p:nvSpPr>
        <p:spPr>
          <a:xfrm>
            <a:off x="3819906" y="3946779"/>
            <a:ext cx="685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s-419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Sucursal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7"/>
          <p:cNvSpPr txBox="1"/>
          <p:nvPr/>
        </p:nvSpPr>
        <p:spPr>
          <a:xfrm>
            <a:off x="4491990" y="3946779"/>
            <a:ext cx="20574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7"/>
          <p:cNvSpPr txBox="1"/>
          <p:nvPr/>
        </p:nvSpPr>
        <p:spPr>
          <a:xfrm>
            <a:off x="4732020" y="3946779"/>
            <a:ext cx="396392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Perfil: </a:t>
            </a:r>
            <a:r>
              <a:rPr lang="es-419" sz="8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el promedio financiero de cada perfil, de P1 a P7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27"/>
          <p:cNvSpPr/>
          <p:nvPr/>
        </p:nvSpPr>
        <p:spPr>
          <a:xfrm>
            <a:off x="3737610" y="4224528"/>
            <a:ext cx="5026914" cy="257175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27"/>
          <p:cNvSpPr txBox="1"/>
          <p:nvPr/>
        </p:nvSpPr>
        <p:spPr>
          <a:xfrm>
            <a:off x="3819906" y="4224528"/>
            <a:ext cx="685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s-419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Cercanía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7"/>
          <p:cNvSpPr txBox="1"/>
          <p:nvPr/>
        </p:nvSpPr>
        <p:spPr>
          <a:xfrm>
            <a:off x="4491990" y="4224528"/>
            <a:ext cx="20574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7"/>
          <p:cNvSpPr txBox="1"/>
          <p:nvPr/>
        </p:nvSpPr>
        <p:spPr>
          <a:xfrm>
            <a:off x="4732020" y="4224528"/>
            <a:ext cx="396392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Parecido: </a:t>
            </a:r>
            <a:r>
              <a:rPr lang="es-419" sz="8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en las 6 variables a la vez: score, mora, % bancarizado, % comercial, renta y patrimonio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7"/>
          <p:cNvSpPr/>
          <p:nvPr/>
        </p:nvSpPr>
        <p:spPr>
          <a:xfrm>
            <a:off x="3737610" y="4502277"/>
            <a:ext cx="5026914" cy="2571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7"/>
          <p:cNvSpPr txBox="1"/>
          <p:nvPr/>
        </p:nvSpPr>
        <p:spPr>
          <a:xfrm>
            <a:off x="3819906" y="4502277"/>
            <a:ext cx="685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s-419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Límite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27"/>
          <p:cNvSpPr txBox="1"/>
          <p:nvPr/>
        </p:nvSpPr>
        <p:spPr>
          <a:xfrm>
            <a:off x="4491990" y="4502277"/>
            <a:ext cx="20574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7"/>
          <p:cNvSpPr txBox="1"/>
          <p:nvPr/>
        </p:nvSpPr>
        <p:spPr>
          <a:xfrm>
            <a:off x="4732020" y="4502277"/>
            <a:ext cx="396392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Sin corte fijo: </a:t>
            </a:r>
            <a:r>
              <a:rPr lang="es-419" sz="8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la frontera queda donde una celda está a mitad de camino entre dos perfiles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28"/>
          <p:cNvSpPr/>
          <p:nvPr/>
        </p:nvSpPr>
        <p:spPr>
          <a:xfrm>
            <a:off x="0" y="0"/>
            <a:ext cx="9141714" cy="58293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28"/>
          <p:cNvSpPr txBox="1"/>
          <p:nvPr/>
        </p:nvSpPr>
        <p:spPr>
          <a:xfrm>
            <a:off x="377190" y="82296"/>
            <a:ext cx="83667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es-419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Los 7 perfiles resultantes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8"/>
          <p:cNvSpPr txBox="1"/>
          <p:nvPr/>
        </p:nvSpPr>
        <p:spPr>
          <a:xfrm>
            <a:off x="377190" y="370332"/>
            <a:ext cx="8366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s-419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El nombre de cada perfil resume sus 3 dimensiones: salud · clasificación · respaldo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11" name="Google Shape;911;p28"/>
          <p:cNvGraphicFramePr/>
          <p:nvPr/>
        </p:nvGraphicFramePr>
        <p:xfrm>
          <a:off x="377190" y="6995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{450DAB85-EDE7-4531-B560-F2E11D1F1786}</a:tableStyleId>
              </a:tblPr>
              <a:tblGrid>
                <a:gridCol w="377175"/>
                <a:gridCol w="1748775"/>
                <a:gridCol w="1783075"/>
                <a:gridCol w="1577325"/>
                <a:gridCol w="1851650"/>
                <a:gridCol w="1049250"/>
              </a:tblGrid>
              <a:tr h="23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Perfil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1B1B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crediticia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400E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240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Clasificación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6534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económico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Población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501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6B5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F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sólida ·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a D SB · 45-54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736 · Mora 7.6%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Buen pagador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$740k · Pat. $8.8M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medio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609.808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2F25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7F2F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P2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B9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frágil ·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a D SB · 30-44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579 · Mora 14.1%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bajo, mora creciente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$670k · Pat. $2.3M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749.975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E79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P3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débil · B/SB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a E · 18-34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573 · Mora 26.5%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bajo, mora alta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Mixto B y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$850k · Pat. $2.7M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2.092.210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5E5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E5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D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tensionada · 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a E B · 35-54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706 · Mora 42.2%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medio, mora muy alta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3.4% deuda comercial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$970k · Pat. $10.6M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medio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2.109.229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2E6E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4B2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P5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B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emergente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ABC1-C2 · 18-29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570 · Mora 5.3%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Poco historial, mora baja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Recién ingresando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$1.03M · Pat. $3.4M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emergente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556.733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68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F3A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P6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BC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 · 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ABC1-C2 B · 30-54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760 · Mora 19.2%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alto, mora moderada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10% deuda comercial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$1.97M · Pat. $91.1M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1.247.984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4A2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5C4A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P7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C7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 ·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30-54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789 · Mora 9.5%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Mejor score del universo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$1.29M · Pat. $79.1M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44.893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2" name="Google Shape;912;p28"/>
          <p:cNvSpPr txBox="1"/>
          <p:nvPr/>
        </p:nvSpPr>
        <p:spPr>
          <a:xfrm>
            <a:off x="377190" y="3380994"/>
            <a:ext cx="83667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Arial"/>
              <a:buNone/>
            </a:pPr>
            <a:r>
              <a:rPr b="1" lang="es-419" sz="9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¿Cómo se asigna cada celda a un perfil? Algoritmo k-means en 5 pasos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28"/>
          <p:cNvSpPr txBox="1"/>
          <p:nvPr/>
        </p:nvSpPr>
        <p:spPr>
          <a:xfrm>
            <a:off x="377190" y="3586734"/>
            <a:ext cx="8366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s-419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Cada persona queda en una celda según su edad, GSE y bancarización. Luego k-means agrupa las celdas usando sus 6 variables financieras: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8"/>
          <p:cNvSpPr/>
          <p:nvPr/>
        </p:nvSpPr>
        <p:spPr>
          <a:xfrm>
            <a:off x="377190" y="3833622"/>
            <a:ext cx="1567738" cy="754380"/>
          </a:xfrm>
          <a:prstGeom prst="roundRect">
            <a:avLst>
              <a:gd fmla="val 7273" name="adj"/>
            </a:avLst>
          </a:prstGeom>
          <a:solidFill>
            <a:srgbClr val="F8FA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8"/>
          <p:cNvSpPr/>
          <p:nvPr/>
        </p:nvSpPr>
        <p:spPr>
          <a:xfrm>
            <a:off x="480060" y="3929634"/>
            <a:ext cx="233172" cy="233172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8"/>
          <p:cNvSpPr txBox="1"/>
          <p:nvPr/>
        </p:nvSpPr>
        <p:spPr>
          <a:xfrm>
            <a:off x="480060" y="3929634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28"/>
          <p:cNvSpPr txBox="1"/>
          <p:nvPr/>
        </p:nvSpPr>
        <p:spPr>
          <a:xfrm>
            <a:off x="774954" y="3902202"/>
            <a:ext cx="1087678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 fija el número de perfiles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8"/>
          <p:cNvSpPr txBox="1"/>
          <p:nvPr/>
        </p:nvSpPr>
        <p:spPr>
          <a:xfrm>
            <a:off x="480060" y="4245102"/>
            <a:ext cx="1361998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Elegimos 7.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8"/>
          <p:cNvSpPr/>
          <p:nvPr/>
        </p:nvSpPr>
        <p:spPr>
          <a:xfrm>
            <a:off x="2082089" y="3833622"/>
            <a:ext cx="1567739" cy="754380"/>
          </a:xfrm>
          <a:prstGeom prst="roundRect">
            <a:avLst>
              <a:gd fmla="val 7273" name="adj"/>
            </a:avLst>
          </a:prstGeom>
          <a:solidFill>
            <a:srgbClr val="F8FA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28"/>
          <p:cNvSpPr/>
          <p:nvPr/>
        </p:nvSpPr>
        <p:spPr>
          <a:xfrm>
            <a:off x="2184959" y="3929634"/>
            <a:ext cx="233172" cy="233172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8"/>
          <p:cNvSpPr txBox="1"/>
          <p:nvPr/>
        </p:nvSpPr>
        <p:spPr>
          <a:xfrm>
            <a:off x="2184959" y="3929634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8"/>
          <p:cNvSpPr txBox="1"/>
          <p:nvPr/>
        </p:nvSpPr>
        <p:spPr>
          <a:xfrm>
            <a:off x="2479852" y="3902202"/>
            <a:ext cx="1087679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 ubican 7 puntos de partida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8"/>
          <p:cNvSpPr txBox="1"/>
          <p:nvPr/>
        </p:nvSpPr>
        <p:spPr>
          <a:xfrm>
            <a:off x="2184959" y="4245102"/>
            <a:ext cx="1361999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Un "centro" inicial por perfil.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28"/>
          <p:cNvSpPr/>
          <p:nvPr/>
        </p:nvSpPr>
        <p:spPr>
          <a:xfrm>
            <a:off x="3786988" y="3833622"/>
            <a:ext cx="1567738" cy="754380"/>
          </a:xfrm>
          <a:prstGeom prst="roundRect">
            <a:avLst>
              <a:gd fmla="val 7273" name="adj"/>
            </a:avLst>
          </a:prstGeom>
          <a:solidFill>
            <a:srgbClr val="ECFEFF"/>
          </a:solidFill>
          <a:ln cap="flat" cmpd="sng" w="1587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28"/>
          <p:cNvSpPr/>
          <p:nvPr/>
        </p:nvSpPr>
        <p:spPr>
          <a:xfrm>
            <a:off x="3889858" y="3929634"/>
            <a:ext cx="233172" cy="233172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28"/>
          <p:cNvSpPr txBox="1"/>
          <p:nvPr/>
        </p:nvSpPr>
        <p:spPr>
          <a:xfrm>
            <a:off x="3889858" y="3929634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28"/>
          <p:cNvSpPr txBox="1"/>
          <p:nvPr/>
        </p:nvSpPr>
        <p:spPr>
          <a:xfrm>
            <a:off x="4184752" y="3902202"/>
            <a:ext cx="1087679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Cada celda va al centro más cercano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8"/>
          <p:cNvSpPr txBox="1"/>
          <p:nvPr/>
        </p:nvSpPr>
        <p:spPr>
          <a:xfrm>
            <a:off x="3889858" y="4245102"/>
            <a:ext cx="1361999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Distancia: suma de diferencias en las 6 variables estandarizadas.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8"/>
          <p:cNvSpPr/>
          <p:nvPr/>
        </p:nvSpPr>
        <p:spPr>
          <a:xfrm>
            <a:off x="5491886" y="3833622"/>
            <a:ext cx="1567739" cy="754380"/>
          </a:xfrm>
          <a:prstGeom prst="roundRect">
            <a:avLst>
              <a:gd fmla="val 7273" name="adj"/>
            </a:avLst>
          </a:prstGeom>
          <a:solidFill>
            <a:srgbClr val="F8FA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28"/>
          <p:cNvSpPr/>
          <p:nvPr/>
        </p:nvSpPr>
        <p:spPr>
          <a:xfrm>
            <a:off x="5594756" y="3929634"/>
            <a:ext cx="233172" cy="233172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8"/>
          <p:cNvSpPr txBox="1"/>
          <p:nvPr/>
        </p:nvSpPr>
        <p:spPr>
          <a:xfrm>
            <a:off x="5594756" y="3929634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8"/>
          <p:cNvSpPr txBox="1"/>
          <p:nvPr/>
        </p:nvSpPr>
        <p:spPr>
          <a:xfrm>
            <a:off x="5889650" y="3902202"/>
            <a:ext cx="1087679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 recalcula cada centro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8"/>
          <p:cNvSpPr txBox="1"/>
          <p:nvPr/>
        </p:nvSpPr>
        <p:spPr>
          <a:xfrm>
            <a:off x="5594756" y="4245102"/>
            <a:ext cx="1361999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Pasa a ser el promedio de las celdas que le tocaron.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28"/>
          <p:cNvSpPr/>
          <p:nvPr/>
        </p:nvSpPr>
        <p:spPr>
          <a:xfrm>
            <a:off x="7196786" y="3833622"/>
            <a:ext cx="1567738" cy="754380"/>
          </a:xfrm>
          <a:prstGeom prst="roundRect">
            <a:avLst>
              <a:gd fmla="val 7273" name="adj"/>
            </a:avLst>
          </a:prstGeom>
          <a:solidFill>
            <a:srgbClr val="F8FA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28"/>
          <p:cNvSpPr/>
          <p:nvPr/>
        </p:nvSpPr>
        <p:spPr>
          <a:xfrm>
            <a:off x="7299656" y="3929634"/>
            <a:ext cx="233172" cy="233172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28"/>
          <p:cNvSpPr txBox="1"/>
          <p:nvPr/>
        </p:nvSpPr>
        <p:spPr>
          <a:xfrm>
            <a:off x="7299656" y="3929634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8"/>
          <p:cNvSpPr txBox="1"/>
          <p:nvPr/>
        </p:nvSpPr>
        <p:spPr>
          <a:xfrm>
            <a:off x="7594550" y="3902202"/>
            <a:ext cx="1087679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 repite hasta que nada cambia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28"/>
          <p:cNvSpPr txBox="1"/>
          <p:nvPr/>
        </p:nvSpPr>
        <p:spPr>
          <a:xfrm>
            <a:off x="7299656" y="4245102"/>
            <a:ext cx="1361999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Pasos 3 y 4 hasta que ninguna celda cambia de perfil.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8"/>
          <p:cNvSpPr txBox="1"/>
          <p:nvPr/>
        </p:nvSpPr>
        <p:spPr>
          <a:xfrm>
            <a:off x="377190" y="4642866"/>
            <a:ext cx="83667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700"/>
              <a:buFont typeface="Arial"/>
              <a:buNone/>
            </a:pPr>
            <a:r>
              <a:rPr b="1" i="1" lang="es-419" sz="7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No hay un umbral de distancia fijo: cada celda queda en el perfil cuyo centro le está más cerca que cualquiera de los otros seis.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29"/>
          <p:cNvSpPr/>
          <p:nvPr/>
        </p:nvSpPr>
        <p:spPr>
          <a:xfrm>
            <a:off x="0" y="0"/>
            <a:ext cx="9141714" cy="58293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29"/>
          <p:cNvSpPr txBox="1"/>
          <p:nvPr/>
        </p:nvSpPr>
        <p:spPr>
          <a:xfrm>
            <a:off x="377190" y="82296"/>
            <a:ext cx="83667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es-419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Los 7 perfiles resultantes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9"/>
          <p:cNvSpPr txBox="1"/>
          <p:nvPr/>
        </p:nvSpPr>
        <p:spPr>
          <a:xfrm>
            <a:off x="377190" y="370332"/>
            <a:ext cx="8366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s-419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El nombre de cada perfil resume sus 3 dimensiones: salud · clasificación · respaldo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48" name="Google Shape;948;p29"/>
          <p:cNvGraphicFramePr/>
          <p:nvPr/>
        </p:nvGraphicFramePr>
        <p:xfrm>
          <a:off x="1030638" y="7200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{450DAB85-EDE7-4531-B560-F2E11D1F1786}</a:tableStyleId>
              </a:tblPr>
              <a:tblGrid>
                <a:gridCol w="377175"/>
                <a:gridCol w="1748775"/>
                <a:gridCol w="1783075"/>
                <a:gridCol w="1577325"/>
                <a:gridCol w="1851650"/>
              </a:tblGrid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Perfil</a:t>
                      </a:r>
                      <a:endParaRPr sz="8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crediticia</a:t>
                      </a:r>
                      <a:endParaRPr sz="8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Clasificación</a:t>
                      </a:r>
                      <a:endParaRPr sz="8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económico</a:t>
                      </a:r>
                      <a:endParaRPr sz="8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CECE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501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6B5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F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sólida ·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a D SB · 45-54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736 · Mora 7.6%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Buen pagador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$740k · Pat. $8.8M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medio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2F25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7F2F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P2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B9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frágil ·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a D SB · 30-44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579 · Mora 14.1%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bajo, mora creciente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$670k · Pat. $2.3M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E79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P3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débil · B/SB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a E · 18-34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573 · Mora 26.5%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bajo, mora alta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Mixto B y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$850k · Pat. $2.7M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5E5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E5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D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tensionada · 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a E B · 35-54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706 · Mora 42.2%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medio, mora muy alta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$970k · Pat. $10.6M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medio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2E6E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4B2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P5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B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emergente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ABC1-C2 · 18-29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570 · Mora 5.3%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Poco historial, mora baja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Recién ingresando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$1.03M · Pat. $3.4M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emergente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68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F3A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P6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BC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 · 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ABC1-C2 B · 30-54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760 · Mora 19.2%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alto, mora moderada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$1.97M · Pat. $91.1M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4A2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5C4A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P7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C7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 ·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30-54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789 · Mora 9.5%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Mejor score del universo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$1.29M · Pat. $79.1M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49" name="Google Shape;949;p29"/>
          <p:cNvSpPr txBox="1"/>
          <p:nvPr/>
        </p:nvSpPr>
        <p:spPr>
          <a:xfrm>
            <a:off x="377190" y="4066794"/>
            <a:ext cx="8387334" cy="493776"/>
          </a:xfrm>
          <a:prstGeom prst="rect">
            <a:avLst/>
          </a:prstGeom>
          <a:solidFill>
            <a:srgbClr val="99CCFF">
              <a:alpha val="50196"/>
            </a:srgbClr>
          </a:solidFill>
          <a:ln cap="flat" cmpd="sng" w="9525">
            <a:solidFill>
              <a:srgbClr val="99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800"/>
              <a:buFont typeface="Arial"/>
              <a:buNone/>
            </a:pPr>
            <a:r>
              <a:rPr lang="es-419" sz="800">
                <a:solidFill>
                  <a:srgbClr val="1F3864"/>
                </a:solidFill>
              </a:rPr>
              <a:t>Primero, cada persona queda en una celda según tres datos: su edad, su GSE y si está bancarizada o no. Por ejemplo, un C2 bancarizado de 37 años cae en la celda "C2 B, 35-39". Luego, para cada celda se calcula el promedio de sus 6 variables financieras, y el algoritmo (k-means) asigna cada celda al perfil cuyo promedio le queda más cerca en esas 6 variables estandarizadas. Así, esa persona pertenece a P6 porque su celda está más cerca del promedio de P6 que del de cualquier otro perfil.</a:t>
            </a:r>
            <a:endParaRPr sz="8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30"/>
          <p:cNvSpPr/>
          <p:nvPr/>
        </p:nvSpPr>
        <p:spPr>
          <a:xfrm>
            <a:off x="0" y="0"/>
            <a:ext cx="9141714" cy="58293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0"/>
          <p:cNvSpPr txBox="1"/>
          <p:nvPr/>
        </p:nvSpPr>
        <p:spPr>
          <a:xfrm>
            <a:off x="377190" y="82296"/>
            <a:ext cx="83667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es-419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¿Cómo encontramos los perfiles?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30"/>
          <p:cNvSpPr txBox="1"/>
          <p:nvPr/>
        </p:nvSpPr>
        <p:spPr>
          <a:xfrm>
            <a:off x="377190" y="370332"/>
            <a:ext cx="8366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s-419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Cruzamos Edad × GSE × Bancarización y agrupamos las celdas con foto financiera similar x </a:t>
            </a:r>
            <a:r>
              <a:rPr b="1" lang="es-419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experiencia profesional</a:t>
            </a:r>
            <a:r>
              <a:rPr lang="es-419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→ 7 perfiles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30"/>
          <p:cNvSpPr txBox="1"/>
          <p:nvPr/>
        </p:nvSpPr>
        <p:spPr>
          <a:xfrm>
            <a:off x="973900" y="748950"/>
            <a:ext cx="3233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Sub Bancarizado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30"/>
          <p:cNvSpPr txBox="1"/>
          <p:nvPr/>
        </p:nvSpPr>
        <p:spPr>
          <a:xfrm>
            <a:off x="4692455" y="748950"/>
            <a:ext cx="4041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Bancarizado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30"/>
          <p:cNvSpPr txBox="1"/>
          <p:nvPr/>
        </p:nvSpPr>
        <p:spPr>
          <a:xfrm>
            <a:off x="367613" y="934117"/>
            <a:ext cx="525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Edad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30"/>
          <p:cNvSpPr txBox="1"/>
          <p:nvPr/>
        </p:nvSpPr>
        <p:spPr>
          <a:xfrm>
            <a:off x="973900" y="934117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30"/>
          <p:cNvSpPr txBox="1"/>
          <p:nvPr/>
        </p:nvSpPr>
        <p:spPr>
          <a:xfrm>
            <a:off x="1782281" y="934117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C3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0"/>
          <p:cNvSpPr txBox="1"/>
          <p:nvPr/>
        </p:nvSpPr>
        <p:spPr>
          <a:xfrm>
            <a:off x="2590663" y="934117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C2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30"/>
          <p:cNvSpPr txBox="1"/>
          <p:nvPr/>
        </p:nvSpPr>
        <p:spPr>
          <a:xfrm>
            <a:off x="3399045" y="934117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ABC1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30"/>
          <p:cNvSpPr txBox="1"/>
          <p:nvPr/>
        </p:nvSpPr>
        <p:spPr>
          <a:xfrm>
            <a:off x="4692455" y="934117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30"/>
          <p:cNvSpPr txBox="1"/>
          <p:nvPr/>
        </p:nvSpPr>
        <p:spPr>
          <a:xfrm>
            <a:off x="5500837" y="934117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30"/>
          <p:cNvSpPr txBox="1"/>
          <p:nvPr/>
        </p:nvSpPr>
        <p:spPr>
          <a:xfrm>
            <a:off x="6309219" y="934117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C3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30"/>
          <p:cNvSpPr txBox="1"/>
          <p:nvPr/>
        </p:nvSpPr>
        <p:spPr>
          <a:xfrm>
            <a:off x="7117600" y="934117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C2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30"/>
          <p:cNvSpPr txBox="1"/>
          <p:nvPr/>
        </p:nvSpPr>
        <p:spPr>
          <a:xfrm>
            <a:off x="7925982" y="934117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ABC1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30"/>
          <p:cNvSpPr txBox="1"/>
          <p:nvPr/>
        </p:nvSpPr>
        <p:spPr>
          <a:xfrm>
            <a:off x="367613" y="1105567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18-24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30"/>
          <p:cNvSpPr/>
          <p:nvPr/>
        </p:nvSpPr>
        <p:spPr>
          <a:xfrm>
            <a:off x="998151" y="1122712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30"/>
          <p:cNvSpPr txBox="1"/>
          <p:nvPr/>
        </p:nvSpPr>
        <p:spPr>
          <a:xfrm>
            <a:off x="998151" y="1122712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0"/>
          <p:cNvSpPr/>
          <p:nvPr/>
        </p:nvSpPr>
        <p:spPr>
          <a:xfrm>
            <a:off x="1806533" y="1122712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30"/>
          <p:cNvSpPr txBox="1"/>
          <p:nvPr/>
        </p:nvSpPr>
        <p:spPr>
          <a:xfrm>
            <a:off x="1806533" y="1122712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30"/>
          <p:cNvSpPr/>
          <p:nvPr/>
        </p:nvSpPr>
        <p:spPr>
          <a:xfrm>
            <a:off x="2614914" y="1122712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30"/>
          <p:cNvSpPr txBox="1"/>
          <p:nvPr/>
        </p:nvSpPr>
        <p:spPr>
          <a:xfrm>
            <a:off x="2614914" y="1122712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30"/>
          <p:cNvSpPr/>
          <p:nvPr/>
        </p:nvSpPr>
        <p:spPr>
          <a:xfrm>
            <a:off x="3423296" y="1122712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30"/>
          <p:cNvSpPr txBox="1"/>
          <p:nvPr/>
        </p:nvSpPr>
        <p:spPr>
          <a:xfrm>
            <a:off x="3423296" y="1122712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30"/>
          <p:cNvSpPr/>
          <p:nvPr/>
        </p:nvSpPr>
        <p:spPr>
          <a:xfrm>
            <a:off x="4716707" y="1122712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30"/>
          <p:cNvSpPr txBox="1"/>
          <p:nvPr/>
        </p:nvSpPr>
        <p:spPr>
          <a:xfrm>
            <a:off x="4716707" y="1122712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30"/>
          <p:cNvSpPr/>
          <p:nvPr/>
        </p:nvSpPr>
        <p:spPr>
          <a:xfrm>
            <a:off x="5525088" y="1122712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30"/>
          <p:cNvSpPr txBox="1"/>
          <p:nvPr/>
        </p:nvSpPr>
        <p:spPr>
          <a:xfrm>
            <a:off x="5525088" y="1122712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30"/>
          <p:cNvSpPr/>
          <p:nvPr/>
        </p:nvSpPr>
        <p:spPr>
          <a:xfrm>
            <a:off x="6333470" y="1122712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30"/>
          <p:cNvSpPr txBox="1"/>
          <p:nvPr/>
        </p:nvSpPr>
        <p:spPr>
          <a:xfrm>
            <a:off x="6333470" y="1122712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0"/>
          <p:cNvSpPr/>
          <p:nvPr/>
        </p:nvSpPr>
        <p:spPr>
          <a:xfrm>
            <a:off x="7141852" y="1122712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30"/>
          <p:cNvSpPr txBox="1"/>
          <p:nvPr/>
        </p:nvSpPr>
        <p:spPr>
          <a:xfrm>
            <a:off x="7141852" y="1122712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30"/>
          <p:cNvSpPr/>
          <p:nvPr/>
        </p:nvSpPr>
        <p:spPr>
          <a:xfrm>
            <a:off x="7950233" y="1122712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0"/>
          <p:cNvSpPr txBox="1"/>
          <p:nvPr/>
        </p:nvSpPr>
        <p:spPr>
          <a:xfrm>
            <a:off x="7950233" y="1122712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30"/>
          <p:cNvSpPr txBox="1"/>
          <p:nvPr/>
        </p:nvSpPr>
        <p:spPr>
          <a:xfrm>
            <a:off x="367613" y="1359314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25-29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0"/>
          <p:cNvSpPr/>
          <p:nvPr/>
        </p:nvSpPr>
        <p:spPr>
          <a:xfrm>
            <a:off x="998151" y="1376459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0"/>
          <p:cNvSpPr txBox="1"/>
          <p:nvPr/>
        </p:nvSpPr>
        <p:spPr>
          <a:xfrm>
            <a:off x="998151" y="1376459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30"/>
          <p:cNvSpPr/>
          <p:nvPr/>
        </p:nvSpPr>
        <p:spPr>
          <a:xfrm>
            <a:off x="1806533" y="1376459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30"/>
          <p:cNvSpPr txBox="1"/>
          <p:nvPr/>
        </p:nvSpPr>
        <p:spPr>
          <a:xfrm>
            <a:off x="1806533" y="1376459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30"/>
          <p:cNvSpPr/>
          <p:nvPr/>
        </p:nvSpPr>
        <p:spPr>
          <a:xfrm>
            <a:off x="2614914" y="1376459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30"/>
          <p:cNvSpPr txBox="1"/>
          <p:nvPr/>
        </p:nvSpPr>
        <p:spPr>
          <a:xfrm>
            <a:off x="2614914" y="1376459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30"/>
          <p:cNvSpPr/>
          <p:nvPr/>
        </p:nvSpPr>
        <p:spPr>
          <a:xfrm>
            <a:off x="3423296" y="1376459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30"/>
          <p:cNvSpPr txBox="1"/>
          <p:nvPr/>
        </p:nvSpPr>
        <p:spPr>
          <a:xfrm>
            <a:off x="3423296" y="1376459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30"/>
          <p:cNvSpPr/>
          <p:nvPr/>
        </p:nvSpPr>
        <p:spPr>
          <a:xfrm>
            <a:off x="4716707" y="1376459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30"/>
          <p:cNvSpPr txBox="1"/>
          <p:nvPr/>
        </p:nvSpPr>
        <p:spPr>
          <a:xfrm>
            <a:off x="4716707" y="1376459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30"/>
          <p:cNvSpPr/>
          <p:nvPr/>
        </p:nvSpPr>
        <p:spPr>
          <a:xfrm>
            <a:off x="5525088" y="1376459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30"/>
          <p:cNvSpPr txBox="1"/>
          <p:nvPr/>
        </p:nvSpPr>
        <p:spPr>
          <a:xfrm>
            <a:off x="5525088" y="1376459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30"/>
          <p:cNvSpPr/>
          <p:nvPr/>
        </p:nvSpPr>
        <p:spPr>
          <a:xfrm>
            <a:off x="6333470" y="1376459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30"/>
          <p:cNvSpPr txBox="1"/>
          <p:nvPr/>
        </p:nvSpPr>
        <p:spPr>
          <a:xfrm>
            <a:off x="6333470" y="1376459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30"/>
          <p:cNvSpPr/>
          <p:nvPr/>
        </p:nvSpPr>
        <p:spPr>
          <a:xfrm>
            <a:off x="7141852" y="1376459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30"/>
          <p:cNvSpPr txBox="1"/>
          <p:nvPr/>
        </p:nvSpPr>
        <p:spPr>
          <a:xfrm>
            <a:off x="7141852" y="1376459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30"/>
          <p:cNvSpPr/>
          <p:nvPr/>
        </p:nvSpPr>
        <p:spPr>
          <a:xfrm>
            <a:off x="7950233" y="1376459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30"/>
          <p:cNvSpPr txBox="1"/>
          <p:nvPr/>
        </p:nvSpPr>
        <p:spPr>
          <a:xfrm>
            <a:off x="7950233" y="1376459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30"/>
          <p:cNvSpPr txBox="1"/>
          <p:nvPr/>
        </p:nvSpPr>
        <p:spPr>
          <a:xfrm>
            <a:off x="367613" y="1613061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30-34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30"/>
          <p:cNvSpPr/>
          <p:nvPr/>
        </p:nvSpPr>
        <p:spPr>
          <a:xfrm>
            <a:off x="998151" y="16302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30"/>
          <p:cNvSpPr txBox="1"/>
          <p:nvPr/>
        </p:nvSpPr>
        <p:spPr>
          <a:xfrm>
            <a:off x="998151" y="16302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30"/>
          <p:cNvSpPr/>
          <p:nvPr/>
        </p:nvSpPr>
        <p:spPr>
          <a:xfrm>
            <a:off x="1806533" y="16302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30"/>
          <p:cNvSpPr txBox="1"/>
          <p:nvPr/>
        </p:nvSpPr>
        <p:spPr>
          <a:xfrm>
            <a:off x="1806533" y="16302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30"/>
          <p:cNvSpPr/>
          <p:nvPr/>
        </p:nvSpPr>
        <p:spPr>
          <a:xfrm>
            <a:off x="2614914" y="16302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30"/>
          <p:cNvSpPr txBox="1"/>
          <p:nvPr/>
        </p:nvSpPr>
        <p:spPr>
          <a:xfrm>
            <a:off x="2614914" y="16302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30"/>
          <p:cNvSpPr/>
          <p:nvPr/>
        </p:nvSpPr>
        <p:spPr>
          <a:xfrm>
            <a:off x="3423296" y="16302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30"/>
          <p:cNvSpPr txBox="1"/>
          <p:nvPr/>
        </p:nvSpPr>
        <p:spPr>
          <a:xfrm>
            <a:off x="3423296" y="16302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A2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30"/>
          <p:cNvSpPr/>
          <p:nvPr/>
        </p:nvSpPr>
        <p:spPr>
          <a:xfrm>
            <a:off x="4716707" y="16302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30"/>
          <p:cNvSpPr txBox="1"/>
          <p:nvPr/>
        </p:nvSpPr>
        <p:spPr>
          <a:xfrm>
            <a:off x="4716707" y="16302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30"/>
          <p:cNvSpPr/>
          <p:nvPr/>
        </p:nvSpPr>
        <p:spPr>
          <a:xfrm>
            <a:off x="5525088" y="16302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30"/>
          <p:cNvSpPr txBox="1"/>
          <p:nvPr/>
        </p:nvSpPr>
        <p:spPr>
          <a:xfrm>
            <a:off x="5525088" y="16302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30"/>
          <p:cNvSpPr/>
          <p:nvPr/>
        </p:nvSpPr>
        <p:spPr>
          <a:xfrm>
            <a:off x="6333470" y="16302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30"/>
          <p:cNvSpPr txBox="1"/>
          <p:nvPr/>
        </p:nvSpPr>
        <p:spPr>
          <a:xfrm>
            <a:off x="6333470" y="16302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0"/>
          <p:cNvSpPr/>
          <p:nvPr/>
        </p:nvSpPr>
        <p:spPr>
          <a:xfrm>
            <a:off x="7141852" y="16302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30"/>
          <p:cNvSpPr txBox="1"/>
          <p:nvPr/>
        </p:nvSpPr>
        <p:spPr>
          <a:xfrm>
            <a:off x="7141852" y="16302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30"/>
          <p:cNvSpPr/>
          <p:nvPr/>
        </p:nvSpPr>
        <p:spPr>
          <a:xfrm>
            <a:off x="7950233" y="16302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30"/>
          <p:cNvSpPr txBox="1"/>
          <p:nvPr/>
        </p:nvSpPr>
        <p:spPr>
          <a:xfrm>
            <a:off x="7950233" y="16302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30"/>
          <p:cNvSpPr txBox="1"/>
          <p:nvPr/>
        </p:nvSpPr>
        <p:spPr>
          <a:xfrm>
            <a:off x="367613" y="1866808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35-39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30"/>
          <p:cNvSpPr/>
          <p:nvPr/>
        </p:nvSpPr>
        <p:spPr>
          <a:xfrm>
            <a:off x="998151" y="18839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30"/>
          <p:cNvSpPr txBox="1"/>
          <p:nvPr/>
        </p:nvSpPr>
        <p:spPr>
          <a:xfrm>
            <a:off x="998151" y="18839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30"/>
          <p:cNvSpPr/>
          <p:nvPr/>
        </p:nvSpPr>
        <p:spPr>
          <a:xfrm>
            <a:off x="1806533" y="18839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30"/>
          <p:cNvSpPr txBox="1"/>
          <p:nvPr/>
        </p:nvSpPr>
        <p:spPr>
          <a:xfrm>
            <a:off x="1806533" y="18839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30"/>
          <p:cNvSpPr/>
          <p:nvPr/>
        </p:nvSpPr>
        <p:spPr>
          <a:xfrm>
            <a:off x="2614914" y="18839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30"/>
          <p:cNvSpPr txBox="1"/>
          <p:nvPr/>
        </p:nvSpPr>
        <p:spPr>
          <a:xfrm>
            <a:off x="2614914" y="18839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30"/>
          <p:cNvSpPr/>
          <p:nvPr/>
        </p:nvSpPr>
        <p:spPr>
          <a:xfrm>
            <a:off x="3423296" y="18839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30"/>
          <p:cNvSpPr txBox="1"/>
          <p:nvPr/>
        </p:nvSpPr>
        <p:spPr>
          <a:xfrm>
            <a:off x="3423296" y="18839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A2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30"/>
          <p:cNvSpPr/>
          <p:nvPr/>
        </p:nvSpPr>
        <p:spPr>
          <a:xfrm>
            <a:off x="4716707" y="18839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30"/>
          <p:cNvSpPr txBox="1"/>
          <p:nvPr/>
        </p:nvSpPr>
        <p:spPr>
          <a:xfrm>
            <a:off x="4716707" y="18839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30"/>
          <p:cNvSpPr/>
          <p:nvPr/>
        </p:nvSpPr>
        <p:spPr>
          <a:xfrm>
            <a:off x="5525088" y="18839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30"/>
          <p:cNvSpPr txBox="1"/>
          <p:nvPr/>
        </p:nvSpPr>
        <p:spPr>
          <a:xfrm>
            <a:off x="5525088" y="18839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30"/>
          <p:cNvSpPr/>
          <p:nvPr/>
        </p:nvSpPr>
        <p:spPr>
          <a:xfrm>
            <a:off x="6333470" y="18839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30"/>
          <p:cNvSpPr txBox="1"/>
          <p:nvPr/>
        </p:nvSpPr>
        <p:spPr>
          <a:xfrm>
            <a:off x="6333470" y="18839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30"/>
          <p:cNvSpPr/>
          <p:nvPr/>
        </p:nvSpPr>
        <p:spPr>
          <a:xfrm>
            <a:off x="7141852" y="18839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30"/>
          <p:cNvSpPr txBox="1"/>
          <p:nvPr/>
        </p:nvSpPr>
        <p:spPr>
          <a:xfrm>
            <a:off x="7141852" y="18839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30"/>
          <p:cNvSpPr/>
          <p:nvPr/>
        </p:nvSpPr>
        <p:spPr>
          <a:xfrm>
            <a:off x="7950233" y="18839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30"/>
          <p:cNvSpPr txBox="1"/>
          <p:nvPr/>
        </p:nvSpPr>
        <p:spPr>
          <a:xfrm>
            <a:off x="7950233" y="18839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30"/>
          <p:cNvSpPr txBox="1"/>
          <p:nvPr/>
        </p:nvSpPr>
        <p:spPr>
          <a:xfrm>
            <a:off x="367613" y="2120555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40-44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30"/>
          <p:cNvSpPr/>
          <p:nvPr/>
        </p:nvSpPr>
        <p:spPr>
          <a:xfrm>
            <a:off x="998151" y="21377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30"/>
          <p:cNvSpPr txBox="1"/>
          <p:nvPr/>
        </p:nvSpPr>
        <p:spPr>
          <a:xfrm>
            <a:off x="998151" y="21377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30"/>
          <p:cNvSpPr/>
          <p:nvPr/>
        </p:nvSpPr>
        <p:spPr>
          <a:xfrm>
            <a:off x="1806533" y="21377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30"/>
          <p:cNvSpPr txBox="1"/>
          <p:nvPr/>
        </p:nvSpPr>
        <p:spPr>
          <a:xfrm>
            <a:off x="1806533" y="21377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30"/>
          <p:cNvSpPr/>
          <p:nvPr/>
        </p:nvSpPr>
        <p:spPr>
          <a:xfrm>
            <a:off x="2614914" y="21377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30"/>
          <p:cNvSpPr txBox="1"/>
          <p:nvPr/>
        </p:nvSpPr>
        <p:spPr>
          <a:xfrm>
            <a:off x="2614914" y="21377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30"/>
          <p:cNvSpPr/>
          <p:nvPr/>
        </p:nvSpPr>
        <p:spPr>
          <a:xfrm>
            <a:off x="3423296" y="21377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30"/>
          <p:cNvSpPr txBox="1"/>
          <p:nvPr/>
        </p:nvSpPr>
        <p:spPr>
          <a:xfrm>
            <a:off x="3423296" y="21377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A2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30"/>
          <p:cNvSpPr/>
          <p:nvPr/>
        </p:nvSpPr>
        <p:spPr>
          <a:xfrm>
            <a:off x="4716707" y="21377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30"/>
          <p:cNvSpPr txBox="1"/>
          <p:nvPr/>
        </p:nvSpPr>
        <p:spPr>
          <a:xfrm>
            <a:off x="4716707" y="21377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30"/>
          <p:cNvSpPr/>
          <p:nvPr/>
        </p:nvSpPr>
        <p:spPr>
          <a:xfrm>
            <a:off x="5525088" y="21377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30"/>
          <p:cNvSpPr txBox="1"/>
          <p:nvPr/>
        </p:nvSpPr>
        <p:spPr>
          <a:xfrm>
            <a:off x="5525088" y="21377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30"/>
          <p:cNvSpPr/>
          <p:nvPr/>
        </p:nvSpPr>
        <p:spPr>
          <a:xfrm>
            <a:off x="6333470" y="21377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30"/>
          <p:cNvSpPr txBox="1"/>
          <p:nvPr/>
        </p:nvSpPr>
        <p:spPr>
          <a:xfrm>
            <a:off x="6333470" y="21377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30"/>
          <p:cNvSpPr/>
          <p:nvPr/>
        </p:nvSpPr>
        <p:spPr>
          <a:xfrm>
            <a:off x="7141852" y="21377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30"/>
          <p:cNvSpPr txBox="1"/>
          <p:nvPr/>
        </p:nvSpPr>
        <p:spPr>
          <a:xfrm>
            <a:off x="7141852" y="21377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30"/>
          <p:cNvSpPr/>
          <p:nvPr/>
        </p:nvSpPr>
        <p:spPr>
          <a:xfrm>
            <a:off x="7950233" y="21377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30"/>
          <p:cNvSpPr txBox="1"/>
          <p:nvPr/>
        </p:nvSpPr>
        <p:spPr>
          <a:xfrm>
            <a:off x="7950233" y="21377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30"/>
          <p:cNvSpPr txBox="1"/>
          <p:nvPr/>
        </p:nvSpPr>
        <p:spPr>
          <a:xfrm>
            <a:off x="367613" y="2374302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45-49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30"/>
          <p:cNvSpPr/>
          <p:nvPr/>
        </p:nvSpPr>
        <p:spPr>
          <a:xfrm>
            <a:off x="998151" y="23914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30"/>
          <p:cNvSpPr txBox="1"/>
          <p:nvPr/>
        </p:nvSpPr>
        <p:spPr>
          <a:xfrm>
            <a:off x="998151" y="23914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501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30"/>
          <p:cNvSpPr/>
          <p:nvPr/>
        </p:nvSpPr>
        <p:spPr>
          <a:xfrm>
            <a:off x="1806533" y="23914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30"/>
          <p:cNvSpPr txBox="1"/>
          <p:nvPr/>
        </p:nvSpPr>
        <p:spPr>
          <a:xfrm>
            <a:off x="1806533" y="23914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501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30"/>
          <p:cNvSpPr/>
          <p:nvPr/>
        </p:nvSpPr>
        <p:spPr>
          <a:xfrm>
            <a:off x="2614914" y="23914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30"/>
          <p:cNvSpPr txBox="1"/>
          <p:nvPr/>
        </p:nvSpPr>
        <p:spPr>
          <a:xfrm>
            <a:off x="2614914" y="23914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501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30"/>
          <p:cNvSpPr/>
          <p:nvPr/>
        </p:nvSpPr>
        <p:spPr>
          <a:xfrm>
            <a:off x="3423296" y="23914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30"/>
          <p:cNvSpPr txBox="1"/>
          <p:nvPr/>
        </p:nvSpPr>
        <p:spPr>
          <a:xfrm>
            <a:off x="3423296" y="23914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A2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30"/>
          <p:cNvSpPr/>
          <p:nvPr/>
        </p:nvSpPr>
        <p:spPr>
          <a:xfrm>
            <a:off x="4716707" y="23914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30"/>
          <p:cNvSpPr txBox="1"/>
          <p:nvPr/>
        </p:nvSpPr>
        <p:spPr>
          <a:xfrm>
            <a:off x="4716707" y="23914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30"/>
          <p:cNvSpPr/>
          <p:nvPr/>
        </p:nvSpPr>
        <p:spPr>
          <a:xfrm>
            <a:off x="5525088" y="23914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30"/>
          <p:cNvSpPr txBox="1"/>
          <p:nvPr/>
        </p:nvSpPr>
        <p:spPr>
          <a:xfrm>
            <a:off x="5525088" y="23914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30"/>
          <p:cNvSpPr/>
          <p:nvPr/>
        </p:nvSpPr>
        <p:spPr>
          <a:xfrm>
            <a:off x="6333470" y="23914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30"/>
          <p:cNvSpPr txBox="1"/>
          <p:nvPr/>
        </p:nvSpPr>
        <p:spPr>
          <a:xfrm>
            <a:off x="6333470" y="23914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30"/>
          <p:cNvSpPr/>
          <p:nvPr/>
        </p:nvSpPr>
        <p:spPr>
          <a:xfrm>
            <a:off x="7141852" y="23914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30"/>
          <p:cNvSpPr txBox="1"/>
          <p:nvPr/>
        </p:nvSpPr>
        <p:spPr>
          <a:xfrm>
            <a:off x="7141852" y="23914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30"/>
          <p:cNvSpPr/>
          <p:nvPr/>
        </p:nvSpPr>
        <p:spPr>
          <a:xfrm>
            <a:off x="7950233" y="23914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30"/>
          <p:cNvSpPr txBox="1"/>
          <p:nvPr/>
        </p:nvSpPr>
        <p:spPr>
          <a:xfrm>
            <a:off x="7950233" y="23914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30"/>
          <p:cNvSpPr txBox="1"/>
          <p:nvPr/>
        </p:nvSpPr>
        <p:spPr>
          <a:xfrm>
            <a:off x="367613" y="2628049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50-54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30"/>
          <p:cNvSpPr/>
          <p:nvPr/>
        </p:nvSpPr>
        <p:spPr>
          <a:xfrm>
            <a:off x="998151" y="26451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30"/>
          <p:cNvSpPr txBox="1"/>
          <p:nvPr/>
        </p:nvSpPr>
        <p:spPr>
          <a:xfrm>
            <a:off x="998151" y="26451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501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30"/>
          <p:cNvSpPr/>
          <p:nvPr/>
        </p:nvSpPr>
        <p:spPr>
          <a:xfrm>
            <a:off x="1806533" y="26451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30"/>
          <p:cNvSpPr txBox="1"/>
          <p:nvPr/>
        </p:nvSpPr>
        <p:spPr>
          <a:xfrm>
            <a:off x="1806533" y="26451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501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30"/>
          <p:cNvSpPr/>
          <p:nvPr/>
        </p:nvSpPr>
        <p:spPr>
          <a:xfrm>
            <a:off x="2614914" y="26451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30"/>
          <p:cNvSpPr txBox="1"/>
          <p:nvPr/>
        </p:nvSpPr>
        <p:spPr>
          <a:xfrm>
            <a:off x="2614914" y="26451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501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30"/>
          <p:cNvSpPr/>
          <p:nvPr/>
        </p:nvSpPr>
        <p:spPr>
          <a:xfrm>
            <a:off x="3423296" y="26451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30"/>
          <p:cNvSpPr txBox="1"/>
          <p:nvPr/>
        </p:nvSpPr>
        <p:spPr>
          <a:xfrm>
            <a:off x="3423296" y="26451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A2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30"/>
          <p:cNvSpPr/>
          <p:nvPr/>
        </p:nvSpPr>
        <p:spPr>
          <a:xfrm>
            <a:off x="4716707" y="26451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30"/>
          <p:cNvSpPr txBox="1"/>
          <p:nvPr/>
        </p:nvSpPr>
        <p:spPr>
          <a:xfrm>
            <a:off x="4716707" y="26451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30"/>
          <p:cNvSpPr/>
          <p:nvPr/>
        </p:nvSpPr>
        <p:spPr>
          <a:xfrm>
            <a:off x="5525088" y="26451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30"/>
          <p:cNvSpPr txBox="1"/>
          <p:nvPr/>
        </p:nvSpPr>
        <p:spPr>
          <a:xfrm>
            <a:off x="5525088" y="26451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30"/>
          <p:cNvSpPr/>
          <p:nvPr/>
        </p:nvSpPr>
        <p:spPr>
          <a:xfrm>
            <a:off x="6333470" y="26451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30"/>
          <p:cNvSpPr txBox="1"/>
          <p:nvPr/>
        </p:nvSpPr>
        <p:spPr>
          <a:xfrm>
            <a:off x="6333470" y="26451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30"/>
          <p:cNvSpPr/>
          <p:nvPr/>
        </p:nvSpPr>
        <p:spPr>
          <a:xfrm>
            <a:off x="7141852" y="26451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30"/>
          <p:cNvSpPr txBox="1"/>
          <p:nvPr/>
        </p:nvSpPr>
        <p:spPr>
          <a:xfrm>
            <a:off x="7141852" y="26451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30"/>
          <p:cNvSpPr/>
          <p:nvPr/>
        </p:nvSpPr>
        <p:spPr>
          <a:xfrm>
            <a:off x="7950233" y="26451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30"/>
          <p:cNvSpPr txBox="1"/>
          <p:nvPr/>
        </p:nvSpPr>
        <p:spPr>
          <a:xfrm>
            <a:off x="7950233" y="26451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30"/>
          <p:cNvSpPr/>
          <p:nvPr/>
        </p:nvSpPr>
        <p:spPr>
          <a:xfrm>
            <a:off x="1879350" y="3193900"/>
            <a:ext cx="1707000" cy="464400"/>
          </a:xfrm>
          <a:prstGeom prst="roundRect">
            <a:avLst>
              <a:gd fmla="val 5263" name="adj"/>
            </a:avLst>
          </a:prstGeom>
          <a:solidFill>
            <a:srgbClr val="FEF2F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30"/>
          <p:cNvSpPr txBox="1"/>
          <p:nvPr/>
        </p:nvSpPr>
        <p:spPr>
          <a:xfrm>
            <a:off x="1976224" y="3278207"/>
            <a:ext cx="15132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100"/>
              <a:buFont typeface="Arial"/>
              <a:buNone/>
            </a:pPr>
            <a:r>
              <a:rPr b="1" lang="es-419" sz="1100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Salud crediticia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30"/>
          <p:cNvSpPr txBox="1"/>
          <p:nvPr/>
        </p:nvSpPr>
        <p:spPr>
          <a:xfrm>
            <a:off x="1976221" y="3431899"/>
            <a:ext cx="1513200" cy="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Score</a:t>
            </a:r>
            <a:r>
              <a:rPr lang="es-419" sz="800">
                <a:solidFill>
                  <a:srgbClr val="1A1A2E"/>
                </a:solidFill>
              </a:rPr>
              <a:t>, </a:t>
            </a: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% Mora</a:t>
            </a:r>
            <a:r>
              <a:rPr lang="es-419" sz="8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30"/>
          <p:cNvSpPr/>
          <p:nvPr/>
        </p:nvSpPr>
        <p:spPr>
          <a:xfrm>
            <a:off x="3718488" y="3193900"/>
            <a:ext cx="1707000" cy="464400"/>
          </a:xfrm>
          <a:prstGeom prst="roundRect">
            <a:avLst>
              <a:gd fmla="val 5263" name="adj"/>
            </a:avLst>
          </a:prstGeom>
          <a:solidFill>
            <a:srgbClr val="FFFBEB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30"/>
          <p:cNvSpPr txBox="1"/>
          <p:nvPr/>
        </p:nvSpPr>
        <p:spPr>
          <a:xfrm>
            <a:off x="3815362" y="3278207"/>
            <a:ext cx="15132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Arial"/>
              <a:buNone/>
            </a:pPr>
            <a:r>
              <a:rPr b="1" lang="es-419" sz="1100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Clasificación B / SB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30"/>
          <p:cNvSpPr txBox="1"/>
          <p:nvPr/>
        </p:nvSpPr>
        <p:spPr>
          <a:xfrm>
            <a:off x="3815317" y="3442232"/>
            <a:ext cx="1513200" cy="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% Bancarizado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30"/>
          <p:cNvSpPr/>
          <p:nvPr/>
        </p:nvSpPr>
        <p:spPr>
          <a:xfrm>
            <a:off x="5557626" y="3193900"/>
            <a:ext cx="1707000" cy="464400"/>
          </a:xfrm>
          <a:prstGeom prst="roundRect">
            <a:avLst>
              <a:gd fmla="val 5263" name="adj"/>
            </a:avLst>
          </a:prstGeom>
          <a:solidFill>
            <a:srgbClr val="F0FDF4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30"/>
          <p:cNvSpPr txBox="1"/>
          <p:nvPr/>
        </p:nvSpPr>
        <p:spPr>
          <a:xfrm>
            <a:off x="5654500" y="3278207"/>
            <a:ext cx="15132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Arial"/>
              <a:buNone/>
            </a:pPr>
            <a:r>
              <a:rPr b="1" lang="es-419" sz="1100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Respaldo económico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30"/>
          <p:cNvSpPr txBox="1"/>
          <p:nvPr/>
        </p:nvSpPr>
        <p:spPr>
          <a:xfrm>
            <a:off x="5654492" y="3444961"/>
            <a:ext cx="1513200" cy="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Renta</a:t>
            </a:r>
            <a:r>
              <a:rPr lang="es-419" sz="800">
                <a:solidFill>
                  <a:srgbClr val="1A1A2E"/>
                </a:solidFill>
              </a:rPr>
              <a:t>, </a:t>
            </a: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Patrimonio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30"/>
          <p:cNvSpPr txBox="1"/>
          <p:nvPr/>
        </p:nvSpPr>
        <p:spPr>
          <a:xfrm>
            <a:off x="388615" y="6181390"/>
            <a:ext cx="83667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Fuente: Panel Equifax Chile. Universo: 18 a 54 años, excluye E Sub Bancarizado.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30"/>
          <p:cNvSpPr txBox="1"/>
          <p:nvPr/>
        </p:nvSpPr>
        <p:spPr>
          <a:xfrm>
            <a:off x="786475" y="4002330"/>
            <a:ext cx="77169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s-419" sz="800">
                <a:solidFill>
                  <a:srgbClr val="6B7280"/>
                </a:solidFill>
              </a:rPr>
              <a:t>Para cada celda calculamos el </a:t>
            </a:r>
            <a:r>
              <a:rPr b="1" lang="es-419" sz="800">
                <a:solidFill>
                  <a:srgbClr val="6B7280"/>
                </a:solidFill>
              </a:rPr>
              <a:t>promedio de cada una de las seis variables</a:t>
            </a:r>
            <a:r>
              <a:rPr lang="es-419" sz="800">
                <a:solidFill>
                  <a:srgbClr val="6B7280"/>
                </a:solidFill>
              </a:rPr>
              <a:t> de decisión. Con esto, se calcula la distancia entre la celda y cada perfil, y se asigna al perfil con la</a:t>
            </a:r>
            <a:r>
              <a:rPr b="1" lang="es-419" sz="800">
                <a:solidFill>
                  <a:srgbClr val="6B7280"/>
                </a:solidFill>
              </a:rPr>
              <a:t> menor distancia total.</a:t>
            </a:r>
            <a:r>
              <a:rPr lang="es-419" sz="800">
                <a:solidFill>
                  <a:srgbClr val="6B7280"/>
                </a:solidFill>
              </a:rPr>
              <a:t> Se asigna al perfil más parecido en el conjunto. Con el ejemplo de P7:</a:t>
            </a:r>
            <a:endParaRPr sz="800">
              <a:solidFill>
                <a:srgbClr val="6B7280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rgbClr val="6B7280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7280"/>
                </a:solidFill>
              </a:rPr>
              <a:t>P7 vs P2</a:t>
            </a:r>
            <a:r>
              <a:rPr lang="es-419" sz="800">
                <a:solidFill>
                  <a:srgbClr val="6B7280"/>
                </a:solidFill>
              </a:rPr>
              <a:t>: en bancarización son iguales (ambos 0%) y en mora son parecidos, pero el score es muy distinto (789 vs 579). </a:t>
            </a:r>
            <a:r>
              <a:rPr b="1" lang="es-419" sz="800">
                <a:solidFill>
                  <a:srgbClr val="6B7280"/>
                </a:solidFill>
              </a:rPr>
              <a:t>Aquí decide el score.</a:t>
            </a:r>
            <a:endParaRPr b="1" sz="800">
              <a:solidFill>
                <a:srgbClr val="6B7280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7280"/>
                </a:solidFill>
              </a:rPr>
              <a:t>P7 vs P1:</a:t>
            </a:r>
            <a:r>
              <a:rPr lang="es-419" sz="800">
                <a:solidFill>
                  <a:srgbClr val="6B7280"/>
                </a:solidFill>
              </a:rPr>
              <a:t> score y mora son parecidos (789 vs 736; 9.5% vs 7.6%), pero el patrimonio es muy distinto ($79M vs $8.8M). </a:t>
            </a:r>
            <a:r>
              <a:rPr b="1" lang="es-419" sz="800">
                <a:solidFill>
                  <a:srgbClr val="6B7280"/>
                </a:solidFill>
              </a:rPr>
              <a:t>Aquí decide el patrimonio.</a:t>
            </a:r>
            <a:endParaRPr b="1" sz="80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